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nton Italics" charset="1" panose="00000500000000000000"/>
      <p:regular r:id="rId25"/>
    </p:embeddedFont>
    <p:embeddedFont>
      <p:font typeface="Open Sauce" charset="1" panose="00000500000000000000"/>
      <p:regular r:id="rId26"/>
    </p:embeddedFont>
    <p:embeddedFont>
      <p:font typeface="Canva Sans" charset="1" panose="020B0503030501040103"/>
      <p:regular r:id="rId27"/>
    </p:embeddedFont>
    <p:embeddedFont>
      <p:font typeface="Open Sauce Light" charset="1" panose="00000400000000000000"/>
      <p:regular r:id="rId31"/>
    </p:embeddedFont>
    <p:embeddedFont>
      <p:font typeface="Open Sauce Bold Italics" charset="1" panose="00000800000000000000"/>
      <p:regular r:id="rId32"/>
    </p:embeddedFont>
    <p:embeddedFont>
      <p:font typeface="DM Serif Display Italics" charset="1" panose="00000000000000000000"/>
      <p:regular r:id="rId34"/>
    </p:embeddedFont>
    <p:embeddedFont>
      <p:font typeface="DM Serif Display" charset="1" panose="000000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Les systèmes d’éclairage traditionnels posent plusieurs problèmes :</a:t>
            </a:r>
          </a:p>
          <a:p>
            <a:r>
              <a:rPr lang="en-US"/>
              <a:t/>
            </a:r>
          </a:p>
          <a:p>
            <a:r>
              <a:rPr lang="en-US"/>
              <a:t>Une consommation énergétique élevée, car les lampadaires restent allumés même quand il n’y a personne.</a:t>
            </a:r>
          </a:p>
          <a:p>
            <a:r>
              <a:rPr lang="en-US"/>
              <a:t/>
            </a:r>
          </a:p>
          <a:p>
            <a:r>
              <a:rPr lang="en-US"/>
              <a:t>Des lampes anciennes qui durent peu, ce qui augmente la maintenance.</a:t>
            </a:r>
          </a:p>
          <a:p>
            <a:r>
              <a:rPr lang="en-US"/>
              <a:t/>
            </a:r>
          </a:p>
          <a:p>
            <a:r>
              <a:rPr lang="en-US"/>
              <a:t>Un coût financier important pour les municipalités.</a:t>
            </a:r>
          </a:p>
          <a:p>
            <a:r>
              <a:rPr lang="en-US"/>
              <a:t/>
            </a:r>
          </a:p>
          <a:p>
            <a:r>
              <a:rPr lang="en-US"/>
              <a:t>Et enfin, un impact négatif sur la faune et la flore à cause de la pollution lumineuse.</a:t>
            </a:r>
          </a:p>
          <a:p>
            <a:r>
              <a:rPr lang="en-US"/>
              <a:t/>
            </a:r>
          </a:p>
          <a:p>
            <a:r>
              <a:rPr lang="en-US"/>
              <a:t>Ces points montrent que l’éclairage classique n’est plus adapté et qu’il faut une solution plus intelligente. »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L’éclairage public intelligent apporte une réponse moderne à ces problèmes.</a:t>
            </a:r>
          </a:p>
          <a:p>
            <a:r>
              <a:rPr lang="en-US"/>
              <a:t>Il adapte automatiquement la lumière selon la présence et la luminosité.</a:t>
            </a:r>
          </a:p>
          <a:p>
            <a:r>
              <a:rPr lang="en-US"/>
              <a:t>Cela permet de réduire l’énergie, d’améliorer la sécurité, de limiter la pollution lumineuse et d’augmenter la durée de vie des lampes.</a:t>
            </a:r>
          </a:p>
          <a:p>
            <a:r>
              <a:rPr lang="en-US"/>
              <a:t/>
            </a:r>
          </a:p>
          <a:p>
            <a:r>
              <a:rPr lang="en-US"/>
              <a:t>Ce système peut être utilisé partout : dans les villes, les routes, les parcs, les zones isolées et même dans les Smart Cities.</a:t>
            </a:r>
          </a:p>
          <a:p>
            <a:r>
              <a:rPr lang="en-US"/>
              <a:t>C’est une solution plus économique, plus écologique et plus efficace. »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7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2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3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4.jpe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VAG6L6pz6Gc.mp4" Type="http://schemas.openxmlformats.org/officeDocument/2006/relationships/video"/><Relationship Id="rId4" Target="../media/VAG6L6pz6Gc.mp4" Type="http://schemas.microsoft.com/office/2007/relationships/media"/><Relationship Id="rId5" Target="../media/image18.jpeg" Type="http://schemas.openxmlformats.org/officeDocument/2006/relationships/image"/><Relationship Id="rId6" Target="../media/VAG6LwdTGkc.mp4" Type="http://schemas.openxmlformats.org/officeDocument/2006/relationships/video"/><Relationship Id="rId7" Target="../media/VAG6LwdTGkc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9.png" Type="http://schemas.openxmlformats.org/officeDocument/2006/relationships/image"/><Relationship Id="rId6" Target="../media/image20.jpe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https://www.lampesdirect.fr/eclairage-professionnel?gad_source=1&amp;gad_campaignid=10398169879&amp;gbraid=0AAAAADsGI4lY77cn5ilHfUo51stDskOfr&amp;gclid=CjwKCAiAlrXJBhBAEiwA-5pgwuhm2Gq9FuIgTP0ymPhm2pRWN5-6FnJspTW6ywSjUwhBJCihDuEeFRoCrJkQAvD_BwE&amp;switch=7580883472818097118" TargetMode="External" Type="http://schemas.openxmlformats.org/officeDocument/2006/relationships/hyperlink"/><Relationship Id="rId6" Target="https://www.lampesdirect.fr/eclairage-professionnel?gad_source=1&amp;gad_campaignid=10398169879&amp;gbraid=0AAAAADsGI4lY77cn5ilHfUo51stDskOfr&amp;gclid=CjwKCAiAlrXJBhBAEiwA-5pgwuhm2Gq9FuIgTP0ymPhm2pRWN5-6FnJspTW6ywSjUwhBJCihDuEeFRoCrJkQAvD_BwE&amp;switch=7580883472818097118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6793741" y="1814766"/>
            <a:ext cx="11494259" cy="4401101"/>
            <a:chOff x="0" y="0"/>
            <a:chExt cx="3027295" cy="11591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27294" cy="1159138"/>
            </a:xfrm>
            <a:custGeom>
              <a:avLst/>
              <a:gdLst/>
              <a:ahLst/>
              <a:cxnLst/>
              <a:rect r="r" b="b" t="t" l="l"/>
              <a:pathLst>
                <a:path h="1159138" w="3027294">
                  <a:moveTo>
                    <a:pt x="0" y="0"/>
                  </a:moveTo>
                  <a:lnTo>
                    <a:pt x="3027294" y="0"/>
                  </a:lnTo>
                  <a:lnTo>
                    <a:pt x="3027294" y="1159138"/>
                  </a:lnTo>
                  <a:lnTo>
                    <a:pt x="0" y="1159138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027295" cy="1187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937418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5" y="0"/>
                </a:lnTo>
                <a:lnTo>
                  <a:pt x="392115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76193" y="7942344"/>
            <a:ext cx="688285" cy="68828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5788" t="0" r="-578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886877" y="8761494"/>
            <a:ext cx="688285" cy="68828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013551" y="2566928"/>
            <a:ext cx="14025570" cy="364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04"/>
              </a:lnSpc>
            </a:pPr>
            <a:r>
              <a:rPr lang="en-US" sz="14635" i="true" spc="-585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SYSTÈME D’ÉCLAIRAGE PUBLIC INTELLIGENT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487775" y="165893"/>
            <a:ext cx="1543050" cy="154305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464472" y="119286"/>
            <a:ext cx="1589657" cy="1589657"/>
          </a:xfrm>
          <a:custGeom>
            <a:avLst/>
            <a:gdLst/>
            <a:ahLst/>
            <a:cxnLst/>
            <a:rect r="r" b="b" t="t" l="l"/>
            <a:pathLst>
              <a:path h="1589657" w="1589657">
                <a:moveTo>
                  <a:pt x="0" y="0"/>
                </a:moveTo>
                <a:lnTo>
                  <a:pt x="1589656" y="0"/>
                </a:lnTo>
                <a:lnTo>
                  <a:pt x="1589656" y="1589657"/>
                </a:lnTo>
                <a:lnTo>
                  <a:pt x="0" y="15896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08058" y="1028700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19607" y="7127369"/>
            <a:ext cx="5919649" cy="6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ÉLABORÉ PAR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06688" y="7942344"/>
            <a:ext cx="5919649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32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WAEL GUESMI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04187" y="8705097"/>
            <a:ext cx="5919649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413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MAHA ROMDHANI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8984" y="9700898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5" y="0"/>
                </a:lnTo>
                <a:lnTo>
                  <a:pt x="392115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28342" y="9792180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089402" y="326786"/>
            <a:ext cx="5666583" cy="2284265"/>
            <a:chOff x="0" y="0"/>
            <a:chExt cx="2111318" cy="851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1318" cy="851097"/>
            </a:xfrm>
            <a:custGeom>
              <a:avLst/>
              <a:gdLst/>
              <a:ahLst/>
              <a:cxnLst/>
              <a:rect r="r" b="b" t="t" l="l"/>
              <a:pathLst>
                <a:path h="851097" w="2111318">
                  <a:moveTo>
                    <a:pt x="0" y="0"/>
                  </a:moveTo>
                  <a:lnTo>
                    <a:pt x="2111318" y="0"/>
                  </a:lnTo>
                  <a:lnTo>
                    <a:pt x="2111318" y="851097"/>
                  </a:lnTo>
                  <a:lnTo>
                    <a:pt x="0" y="851097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11318" cy="879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28342" y="1088346"/>
            <a:ext cx="5389702" cy="942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8"/>
              </a:lnSpc>
            </a:pPr>
            <a:r>
              <a:rPr lang="en-US" sz="7387" i="true" spc="-295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PLAN: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8984" y="3437483"/>
            <a:ext cx="5919649" cy="6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2887" indent="-446444" lvl="1">
              <a:lnSpc>
                <a:spcPts val="4962"/>
              </a:lnSpc>
              <a:buAutoNum type="arabicPeriod" startAt="1"/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90686" y="3437483"/>
            <a:ext cx="5919649" cy="6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2.PROBLÉMATIQUE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8342" y="4893829"/>
            <a:ext cx="713342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3.ÉCLAIRAGE PUBLIC INTELLIGENT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90686" y="4894808"/>
            <a:ext cx="5919649" cy="6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4.PRINCIPE DE FONCTIONNEMENT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8342" y="6351154"/>
            <a:ext cx="713342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5.COMPOSANTS UTILISÉS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90686" y="6352133"/>
            <a:ext cx="5919649" cy="6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6.DIAGRAMME UML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8342" y="7808479"/>
            <a:ext cx="713342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7.EXPLICATION DES CLASSES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90686" y="7808479"/>
            <a:ext cx="713342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8.CONCLUSION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8342" y="9072248"/>
            <a:ext cx="713342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9.BIBLIOGRAPHIE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6466331" y="5143500"/>
            <a:ext cx="1821669" cy="4114800"/>
            <a:chOff x="0" y="0"/>
            <a:chExt cx="479781" cy="10837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781" cy="1083733"/>
            </a:xfrm>
            <a:custGeom>
              <a:avLst/>
              <a:gdLst/>
              <a:ahLst/>
              <a:cxnLst/>
              <a:rect r="r" b="b" t="t" l="l"/>
              <a:pathLst>
                <a:path h="1083733" w="479781">
                  <a:moveTo>
                    <a:pt x="0" y="0"/>
                  </a:moveTo>
                  <a:lnTo>
                    <a:pt x="479781" y="0"/>
                  </a:lnTo>
                  <a:lnTo>
                    <a:pt x="479781" y="1083733"/>
                  </a:lnTo>
                  <a:lnTo>
                    <a:pt x="0" y="1083733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79781" cy="111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72982" y="1066964"/>
            <a:ext cx="15106106" cy="149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2"/>
              </a:lnSpc>
            </a:pPr>
            <a:r>
              <a:rPr lang="en-US" sz="11655" i="true" spc="-466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INTRODUCTION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77041" y="3369295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8"/>
                </a:lnTo>
                <a:lnTo>
                  <a:pt x="0" y="726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433905" y="1888766"/>
            <a:ext cx="7555450" cy="7034124"/>
            <a:chOff x="0" y="0"/>
            <a:chExt cx="6350000" cy="5911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02" y="0"/>
              <a:ext cx="6348428" cy="5911850"/>
            </a:xfrm>
            <a:custGeom>
              <a:avLst/>
              <a:gdLst/>
              <a:ahLst/>
              <a:cxnLst/>
              <a:rect r="r" b="b" t="t" l="l"/>
              <a:pathLst>
                <a:path h="5911850" w="6348428">
                  <a:moveTo>
                    <a:pt x="1146508" y="402590"/>
                  </a:moveTo>
                  <a:lnTo>
                    <a:pt x="108918" y="2192020"/>
                  </a:lnTo>
                  <a:cubicBezTo>
                    <a:pt x="-68882" y="2498090"/>
                    <a:pt x="-25702" y="2884170"/>
                    <a:pt x="214328" y="3144520"/>
                  </a:cubicBezTo>
                  <a:lnTo>
                    <a:pt x="2525728" y="5651500"/>
                  </a:lnTo>
                  <a:cubicBezTo>
                    <a:pt x="2678128" y="5817870"/>
                    <a:pt x="2894028" y="5911850"/>
                    <a:pt x="3118818" y="5911850"/>
                  </a:cubicBezTo>
                  <a:lnTo>
                    <a:pt x="5540708" y="5911850"/>
                  </a:lnTo>
                  <a:cubicBezTo>
                    <a:pt x="5986478" y="5911850"/>
                    <a:pt x="6348428" y="5549900"/>
                    <a:pt x="6348428" y="5104130"/>
                  </a:cubicBezTo>
                  <a:lnTo>
                    <a:pt x="6348428" y="1891030"/>
                  </a:lnTo>
                  <a:cubicBezTo>
                    <a:pt x="6348428" y="1724660"/>
                    <a:pt x="6297628" y="1562100"/>
                    <a:pt x="6201108" y="1426210"/>
                  </a:cubicBezTo>
                  <a:lnTo>
                    <a:pt x="5439108" y="342900"/>
                  </a:lnTo>
                  <a:cubicBezTo>
                    <a:pt x="5287978" y="128270"/>
                    <a:pt x="5041598" y="0"/>
                    <a:pt x="4778708" y="0"/>
                  </a:cubicBezTo>
                  <a:lnTo>
                    <a:pt x="1845008" y="0"/>
                  </a:lnTo>
                  <a:cubicBezTo>
                    <a:pt x="1556718" y="0"/>
                    <a:pt x="1290018" y="153670"/>
                    <a:pt x="1146508" y="402590"/>
                  </a:cubicBezTo>
                  <a:close/>
                </a:path>
              </a:pathLst>
            </a:custGeom>
            <a:blipFill>
              <a:blip r:embed="rId5"/>
              <a:stretch>
                <a:fillRect l="-20471" t="0" r="-74743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886973" y="937418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4" y="0"/>
                </a:lnTo>
                <a:lnTo>
                  <a:pt x="392114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65296" y="4352477"/>
            <a:ext cx="8478704" cy="4213731"/>
            <a:chOff x="0" y="0"/>
            <a:chExt cx="1352184" cy="6720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2184" cy="672005"/>
            </a:xfrm>
            <a:custGeom>
              <a:avLst/>
              <a:gdLst/>
              <a:ahLst/>
              <a:cxnLst/>
              <a:rect r="r" b="b" t="t" l="l"/>
              <a:pathLst>
                <a:path h="672005" w="1352184">
                  <a:moveTo>
                    <a:pt x="1352184" y="46568"/>
                  </a:moveTo>
                  <a:lnTo>
                    <a:pt x="1352184" y="625437"/>
                  </a:lnTo>
                  <a:cubicBezTo>
                    <a:pt x="1352184" y="651155"/>
                    <a:pt x="1331334" y="672005"/>
                    <a:pt x="1305615" y="672005"/>
                  </a:cubicBezTo>
                  <a:lnTo>
                    <a:pt x="46568" y="672005"/>
                  </a:lnTo>
                  <a:cubicBezTo>
                    <a:pt x="20849" y="672005"/>
                    <a:pt x="0" y="651155"/>
                    <a:pt x="0" y="625437"/>
                  </a:cubicBezTo>
                  <a:lnTo>
                    <a:pt x="0" y="46568"/>
                  </a:lnTo>
                  <a:cubicBezTo>
                    <a:pt x="0" y="20849"/>
                    <a:pt x="20849" y="0"/>
                    <a:pt x="46568" y="0"/>
                  </a:cubicBezTo>
                  <a:lnTo>
                    <a:pt x="1305615" y="0"/>
                  </a:lnTo>
                  <a:cubicBezTo>
                    <a:pt x="1331334" y="0"/>
                    <a:pt x="1352184" y="20849"/>
                    <a:pt x="1352184" y="46568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352184" cy="67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3055459"/>
            <a:ext cx="7948341" cy="6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L'ÉCLAIRAGE PUBLIC: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773418"/>
            <a:ext cx="7280961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9"/>
              </a:lnSpc>
            </a:pPr>
            <a:r>
              <a:rPr lang="en-US" sz="2758" spc="-5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L’éclairage public est un élément essentiel de l’infrastructure urbaine. Il assure une visibilité fiable, facilite la compréhension des espaces de circulation et contribue à la valorisation architecturale. Il renforce également la sécurité, le confort et la qualité des espaces publics.</a:t>
            </a:r>
          </a:p>
          <a:p>
            <a:pPr algn="l">
              <a:lnSpc>
                <a:spcPts val="330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6466331" y="1028700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3 of 19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40553" y="283524"/>
            <a:ext cx="8016409" cy="3231508"/>
            <a:chOff x="0" y="0"/>
            <a:chExt cx="2111318" cy="8510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11318" cy="851097"/>
            </a:xfrm>
            <a:custGeom>
              <a:avLst/>
              <a:gdLst/>
              <a:ahLst/>
              <a:cxnLst/>
              <a:rect r="r" b="b" t="t" l="l"/>
              <a:pathLst>
                <a:path h="851097" w="2111318">
                  <a:moveTo>
                    <a:pt x="0" y="0"/>
                  </a:moveTo>
                  <a:lnTo>
                    <a:pt x="2111318" y="0"/>
                  </a:lnTo>
                  <a:lnTo>
                    <a:pt x="2111318" y="851097"/>
                  </a:lnTo>
                  <a:lnTo>
                    <a:pt x="0" y="851097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11318" cy="879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attique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852693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5" y="0"/>
                </a:lnTo>
                <a:lnTo>
                  <a:pt x="392115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042193"/>
            <a:ext cx="8215857" cy="5027480"/>
            <a:chOff x="0" y="0"/>
            <a:chExt cx="1365152" cy="8353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5152" cy="835368"/>
            </a:xfrm>
            <a:custGeom>
              <a:avLst/>
              <a:gdLst/>
              <a:ahLst/>
              <a:cxnLst/>
              <a:rect r="r" b="b" t="t" l="l"/>
              <a:pathLst>
                <a:path h="835368" w="1365152">
                  <a:moveTo>
                    <a:pt x="1365152" y="48058"/>
                  </a:moveTo>
                  <a:lnTo>
                    <a:pt x="1365152" y="787310"/>
                  </a:lnTo>
                  <a:cubicBezTo>
                    <a:pt x="1365152" y="800056"/>
                    <a:pt x="1360089" y="812280"/>
                    <a:pt x="1351076" y="821292"/>
                  </a:cubicBezTo>
                  <a:cubicBezTo>
                    <a:pt x="1342063" y="830305"/>
                    <a:pt x="1329840" y="835368"/>
                    <a:pt x="1317094" y="835368"/>
                  </a:cubicBezTo>
                  <a:lnTo>
                    <a:pt x="48058" y="835368"/>
                  </a:lnTo>
                  <a:cubicBezTo>
                    <a:pt x="21516" y="835368"/>
                    <a:pt x="0" y="813852"/>
                    <a:pt x="0" y="787310"/>
                  </a:cubicBezTo>
                  <a:lnTo>
                    <a:pt x="0" y="48058"/>
                  </a:lnTo>
                  <a:cubicBezTo>
                    <a:pt x="0" y="21516"/>
                    <a:pt x="21516" y="0"/>
                    <a:pt x="48058" y="0"/>
                  </a:cubicBezTo>
                  <a:lnTo>
                    <a:pt x="1317094" y="0"/>
                  </a:lnTo>
                  <a:cubicBezTo>
                    <a:pt x="1343636" y="0"/>
                    <a:pt x="1365152" y="21516"/>
                    <a:pt x="1365152" y="48058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365152" cy="835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525120" y="4922943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8093" y="1462114"/>
            <a:ext cx="6977071" cy="4187638"/>
            <a:chOff x="0" y="0"/>
            <a:chExt cx="6350000" cy="38112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3811270"/>
            </a:xfrm>
            <a:custGeom>
              <a:avLst/>
              <a:gdLst/>
              <a:ahLst/>
              <a:cxnLst/>
              <a:rect r="r" b="b" t="t" l="l"/>
              <a:pathLst>
                <a:path h="3811270" w="635000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2479" r="0" b="-12479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32251" y="1276350"/>
            <a:ext cx="7624710" cy="13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28"/>
              </a:lnSpc>
            </a:pPr>
            <a:r>
              <a:rPr lang="en-US" sz="10451" i="true" spc="-418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PROBLÉMATIQUE: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0815" y="7355548"/>
            <a:ext cx="290973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 i="true" spc="-47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Consommation énergétique élevée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0815" y="8943975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42197" y="7355548"/>
            <a:ext cx="290973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 i="true" spc="-47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Coût financier important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49569" y="7355548"/>
            <a:ext cx="290973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 i="true" spc="-47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Impact négatif sur la faune et la flore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15432" y="7355548"/>
            <a:ext cx="353139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 i="true" spc="-47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Durée de vie limitée des anciennes lampes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4 of 19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3491983" y="6519683"/>
            <a:ext cx="1702841" cy="5831793"/>
            <a:chOff x="0" y="0"/>
            <a:chExt cx="448485" cy="15359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485" cy="1535945"/>
            </a:xfrm>
            <a:custGeom>
              <a:avLst/>
              <a:gdLst/>
              <a:ahLst/>
              <a:cxnLst/>
              <a:rect r="r" b="b" t="t" l="l"/>
              <a:pathLst>
                <a:path h="1535945" w="448485">
                  <a:moveTo>
                    <a:pt x="0" y="0"/>
                  </a:moveTo>
                  <a:lnTo>
                    <a:pt x="448485" y="0"/>
                  </a:lnTo>
                  <a:lnTo>
                    <a:pt x="448485" y="1535945"/>
                  </a:lnTo>
                  <a:lnTo>
                    <a:pt x="0" y="1535945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48485" cy="156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886973" y="1042193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4" y="0"/>
                </a:lnTo>
                <a:lnTo>
                  <a:pt x="392114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4944827"/>
            <a:ext cx="3750476" cy="4313473"/>
            <a:chOff x="0" y="0"/>
            <a:chExt cx="623181" cy="7167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3181" cy="716728"/>
            </a:xfrm>
            <a:custGeom>
              <a:avLst/>
              <a:gdLst/>
              <a:ahLst/>
              <a:cxnLst/>
              <a:rect r="r" b="b" t="t" l="l"/>
              <a:pathLst>
                <a:path h="716728" w="623181">
                  <a:moveTo>
                    <a:pt x="623181" y="105277"/>
                  </a:moveTo>
                  <a:lnTo>
                    <a:pt x="623181" y="611452"/>
                  </a:lnTo>
                  <a:cubicBezTo>
                    <a:pt x="623181" y="669594"/>
                    <a:pt x="576047" y="716728"/>
                    <a:pt x="517905" y="716728"/>
                  </a:cubicBezTo>
                  <a:lnTo>
                    <a:pt x="105277" y="716728"/>
                  </a:lnTo>
                  <a:cubicBezTo>
                    <a:pt x="77356" y="716728"/>
                    <a:pt x="50578" y="705637"/>
                    <a:pt x="30835" y="685894"/>
                  </a:cubicBezTo>
                  <a:cubicBezTo>
                    <a:pt x="11092" y="666150"/>
                    <a:pt x="0" y="639373"/>
                    <a:pt x="0" y="611452"/>
                  </a:cubicBezTo>
                  <a:lnTo>
                    <a:pt x="0" y="105277"/>
                  </a:lnTo>
                  <a:cubicBezTo>
                    <a:pt x="0" y="77356"/>
                    <a:pt x="11092" y="50578"/>
                    <a:pt x="30835" y="30835"/>
                  </a:cubicBezTo>
                  <a:cubicBezTo>
                    <a:pt x="50578" y="11092"/>
                    <a:pt x="77356" y="0"/>
                    <a:pt x="105277" y="0"/>
                  </a:cubicBezTo>
                  <a:lnTo>
                    <a:pt x="517905" y="0"/>
                  </a:lnTo>
                  <a:cubicBezTo>
                    <a:pt x="545826" y="0"/>
                    <a:pt x="572603" y="11092"/>
                    <a:pt x="592347" y="30835"/>
                  </a:cubicBezTo>
                  <a:cubicBezTo>
                    <a:pt x="612090" y="50578"/>
                    <a:pt x="623181" y="77356"/>
                    <a:pt x="623181" y="105277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623181" cy="716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554374" y="4944827"/>
            <a:ext cx="3750476" cy="4313473"/>
            <a:chOff x="0" y="0"/>
            <a:chExt cx="623181" cy="7167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3181" cy="716728"/>
            </a:xfrm>
            <a:custGeom>
              <a:avLst/>
              <a:gdLst/>
              <a:ahLst/>
              <a:cxnLst/>
              <a:rect r="r" b="b" t="t" l="l"/>
              <a:pathLst>
                <a:path h="716728" w="623181">
                  <a:moveTo>
                    <a:pt x="623181" y="105277"/>
                  </a:moveTo>
                  <a:lnTo>
                    <a:pt x="623181" y="611452"/>
                  </a:lnTo>
                  <a:cubicBezTo>
                    <a:pt x="623181" y="669594"/>
                    <a:pt x="576047" y="716728"/>
                    <a:pt x="517905" y="716728"/>
                  </a:cubicBezTo>
                  <a:lnTo>
                    <a:pt x="105277" y="716728"/>
                  </a:lnTo>
                  <a:cubicBezTo>
                    <a:pt x="77356" y="716728"/>
                    <a:pt x="50578" y="705637"/>
                    <a:pt x="30835" y="685894"/>
                  </a:cubicBezTo>
                  <a:cubicBezTo>
                    <a:pt x="11092" y="666150"/>
                    <a:pt x="0" y="639373"/>
                    <a:pt x="0" y="611452"/>
                  </a:cubicBezTo>
                  <a:lnTo>
                    <a:pt x="0" y="105277"/>
                  </a:lnTo>
                  <a:cubicBezTo>
                    <a:pt x="0" y="77356"/>
                    <a:pt x="11092" y="50578"/>
                    <a:pt x="30835" y="30835"/>
                  </a:cubicBezTo>
                  <a:cubicBezTo>
                    <a:pt x="50578" y="11092"/>
                    <a:pt x="77356" y="0"/>
                    <a:pt x="105277" y="0"/>
                  </a:cubicBezTo>
                  <a:lnTo>
                    <a:pt x="517905" y="0"/>
                  </a:lnTo>
                  <a:cubicBezTo>
                    <a:pt x="545826" y="0"/>
                    <a:pt x="572603" y="11092"/>
                    <a:pt x="592347" y="30835"/>
                  </a:cubicBezTo>
                  <a:cubicBezTo>
                    <a:pt x="612090" y="50578"/>
                    <a:pt x="623181" y="77356"/>
                    <a:pt x="623181" y="105277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23181" cy="716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00450" y="1028700"/>
            <a:ext cx="5831793" cy="8216107"/>
            <a:chOff x="0" y="0"/>
            <a:chExt cx="450723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059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505960">
                  <a:moveTo>
                    <a:pt x="0" y="561340"/>
                  </a:moveTo>
                  <a:lnTo>
                    <a:pt x="0" y="3961130"/>
                  </a:lnTo>
                  <a:cubicBezTo>
                    <a:pt x="0" y="4272280"/>
                    <a:pt x="252730" y="4523740"/>
                    <a:pt x="562610" y="4522470"/>
                  </a:cubicBezTo>
                  <a:cubicBezTo>
                    <a:pt x="873760" y="4521200"/>
                    <a:pt x="1126490" y="4773930"/>
                    <a:pt x="1125220" y="5085080"/>
                  </a:cubicBezTo>
                  <a:lnTo>
                    <a:pt x="1123950" y="5787390"/>
                  </a:lnTo>
                  <a:cubicBezTo>
                    <a:pt x="1123950" y="6098540"/>
                    <a:pt x="1375410" y="6350000"/>
                    <a:pt x="1685290" y="6350000"/>
                  </a:cubicBezTo>
                  <a:lnTo>
                    <a:pt x="3944620" y="6350000"/>
                  </a:lnTo>
                  <a:cubicBezTo>
                    <a:pt x="4254500" y="6350000"/>
                    <a:pt x="4505960" y="6098540"/>
                    <a:pt x="4505960" y="5788660"/>
                  </a:cubicBezTo>
                  <a:lnTo>
                    <a:pt x="4505960" y="2679700"/>
                  </a:lnTo>
                  <a:cubicBezTo>
                    <a:pt x="4505960" y="2494280"/>
                    <a:pt x="4414520" y="2321560"/>
                    <a:pt x="4262120" y="2217420"/>
                  </a:cubicBezTo>
                  <a:lnTo>
                    <a:pt x="1184910" y="99060"/>
                  </a:lnTo>
                  <a:cubicBezTo>
                    <a:pt x="1090930" y="34290"/>
                    <a:pt x="980440" y="0"/>
                    <a:pt x="866140" y="0"/>
                  </a:cubicBezTo>
                  <a:lnTo>
                    <a:pt x="561340" y="0"/>
                  </a:lnTo>
                  <a:cubicBezTo>
                    <a:pt x="251460" y="0"/>
                    <a:pt x="0" y="251460"/>
                    <a:pt x="0" y="561340"/>
                  </a:cubicBezTo>
                  <a:close/>
                </a:path>
              </a:pathLst>
            </a:custGeom>
            <a:blipFill>
              <a:blip r:embed="rId6"/>
              <a:stretch>
                <a:fillRect l="-25360" t="0" r="-2536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427507" y="7329783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95148" y="1219200"/>
            <a:ext cx="13040659" cy="103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6"/>
              </a:lnSpc>
            </a:pPr>
            <a:r>
              <a:rPr lang="en-US" sz="8122" i="true" spc="-324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ÉCLAIRAGE PUBLIC INTELLIGENT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1090" y="3097732"/>
            <a:ext cx="10398807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835" i="true" spc="-5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L’ÉCLAIRAGE PUBLIC INTELLIGENT EST UN SYSTÈME MODERNE QUI ADAPTE AUTOMATIQUEMENT LA LUMIÈRE EN FONCTION DE LA PRÉSENCE ET DE LA LUMINOSITÉ.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421310" y="1133475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8283" y="5566984"/>
            <a:ext cx="231381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i="true" spc="-43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Objectifs: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216812"/>
            <a:ext cx="3750476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Réduire la consommation d’énergie.</a:t>
            </a:r>
          </a:p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Minimiser l’impact environnemental.</a:t>
            </a:r>
          </a:p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Améliorer la sécurité.</a:t>
            </a:r>
          </a:p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Limiter la pollution lumineuse.</a:t>
            </a:r>
          </a:p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Optimiser l’efficacité et la durée de vie 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12624" y="5566984"/>
            <a:ext cx="332435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i="true" spc="-43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Domaines d’application: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54374" y="6296321"/>
            <a:ext cx="3282165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Villes et quartiers résidentiels.</a:t>
            </a:r>
          </a:p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Autoroutes et routes nationales.</a:t>
            </a:r>
          </a:p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Parcs et espaces verts.</a:t>
            </a:r>
          </a:p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Zones isolées ou rurales.</a:t>
            </a:r>
          </a:p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Smart Cities.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5 of 19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6466331" y="5143500"/>
            <a:ext cx="1821669" cy="4114800"/>
            <a:chOff x="0" y="0"/>
            <a:chExt cx="479781" cy="10837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781" cy="1083733"/>
            </a:xfrm>
            <a:custGeom>
              <a:avLst/>
              <a:gdLst/>
              <a:ahLst/>
              <a:cxnLst/>
              <a:rect r="r" b="b" t="t" l="l"/>
              <a:pathLst>
                <a:path h="1083733" w="479781">
                  <a:moveTo>
                    <a:pt x="0" y="0"/>
                  </a:moveTo>
                  <a:lnTo>
                    <a:pt x="479781" y="0"/>
                  </a:lnTo>
                  <a:lnTo>
                    <a:pt x="479781" y="1083733"/>
                  </a:lnTo>
                  <a:lnTo>
                    <a:pt x="0" y="1083733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79781" cy="111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0629" y="1794112"/>
            <a:ext cx="10591031" cy="1050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3"/>
              </a:lnSpc>
            </a:pPr>
            <a:r>
              <a:rPr lang="en-US" sz="8171" i="true" spc="-326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PRINCIPE DE FONCTIONNEMENT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124851" y="7619139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703850" y="2224176"/>
            <a:ext cx="7555450" cy="7034124"/>
            <a:chOff x="0" y="0"/>
            <a:chExt cx="6350000" cy="5911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02" y="0"/>
              <a:ext cx="6348428" cy="5911850"/>
            </a:xfrm>
            <a:custGeom>
              <a:avLst/>
              <a:gdLst/>
              <a:ahLst/>
              <a:cxnLst/>
              <a:rect r="r" b="b" t="t" l="l"/>
              <a:pathLst>
                <a:path h="5911850" w="6348428">
                  <a:moveTo>
                    <a:pt x="1146508" y="402590"/>
                  </a:moveTo>
                  <a:lnTo>
                    <a:pt x="108918" y="2192020"/>
                  </a:lnTo>
                  <a:cubicBezTo>
                    <a:pt x="-68882" y="2498090"/>
                    <a:pt x="-25702" y="2884170"/>
                    <a:pt x="214328" y="3144520"/>
                  </a:cubicBezTo>
                  <a:lnTo>
                    <a:pt x="2525728" y="5651500"/>
                  </a:lnTo>
                  <a:cubicBezTo>
                    <a:pt x="2678128" y="5817870"/>
                    <a:pt x="2894028" y="5911850"/>
                    <a:pt x="3118818" y="5911850"/>
                  </a:cubicBezTo>
                  <a:lnTo>
                    <a:pt x="5540708" y="5911850"/>
                  </a:lnTo>
                  <a:cubicBezTo>
                    <a:pt x="5986478" y="5911850"/>
                    <a:pt x="6348428" y="5549900"/>
                    <a:pt x="6348428" y="5104130"/>
                  </a:cubicBezTo>
                  <a:lnTo>
                    <a:pt x="6348428" y="1891030"/>
                  </a:lnTo>
                  <a:cubicBezTo>
                    <a:pt x="6348428" y="1724660"/>
                    <a:pt x="6297628" y="1562100"/>
                    <a:pt x="6201108" y="1426210"/>
                  </a:cubicBezTo>
                  <a:lnTo>
                    <a:pt x="5439108" y="342900"/>
                  </a:lnTo>
                  <a:cubicBezTo>
                    <a:pt x="5287978" y="128270"/>
                    <a:pt x="5041598" y="0"/>
                    <a:pt x="4778708" y="0"/>
                  </a:cubicBezTo>
                  <a:lnTo>
                    <a:pt x="1845008" y="0"/>
                  </a:lnTo>
                  <a:cubicBezTo>
                    <a:pt x="1556718" y="0"/>
                    <a:pt x="1290018" y="153670"/>
                    <a:pt x="1146508" y="40259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39771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886973" y="937418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4" y="0"/>
                </a:lnTo>
                <a:lnTo>
                  <a:pt x="392114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68850" y="3460860"/>
            <a:ext cx="8675150" cy="5153358"/>
            <a:chOff x="0" y="0"/>
            <a:chExt cx="1441468" cy="8562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1468" cy="856284"/>
            </a:xfrm>
            <a:custGeom>
              <a:avLst/>
              <a:gdLst/>
              <a:ahLst/>
              <a:cxnLst/>
              <a:rect r="r" b="b" t="t" l="l"/>
              <a:pathLst>
                <a:path h="856284" w="1441468">
                  <a:moveTo>
                    <a:pt x="1441468" y="45514"/>
                  </a:moveTo>
                  <a:lnTo>
                    <a:pt x="1441468" y="810770"/>
                  </a:lnTo>
                  <a:cubicBezTo>
                    <a:pt x="1441468" y="822841"/>
                    <a:pt x="1436673" y="834418"/>
                    <a:pt x="1428138" y="842953"/>
                  </a:cubicBezTo>
                  <a:cubicBezTo>
                    <a:pt x="1419602" y="851489"/>
                    <a:pt x="1408026" y="856284"/>
                    <a:pt x="1395955" y="856284"/>
                  </a:cubicBezTo>
                  <a:lnTo>
                    <a:pt x="45514" y="856284"/>
                  </a:lnTo>
                  <a:cubicBezTo>
                    <a:pt x="33443" y="856284"/>
                    <a:pt x="21866" y="851489"/>
                    <a:pt x="13331" y="842953"/>
                  </a:cubicBezTo>
                  <a:cubicBezTo>
                    <a:pt x="4795" y="834418"/>
                    <a:pt x="0" y="822841"/>
                    <a:pt x="0" y="810770"/>
                  </a:cubicBezTo>
                  <a:lnTo>
                    <a:pt x="0" y="45514"/>
                  </a:lnTo>
                  <a:cubicBezTo>
                    <a:pt x="0" y="33443"/>
                    <a:pt x="4795" y="21866"/>
                    <a:pt x="13331" y="13331"/>
                  </a:cubicBezTo>
                  <a:cubicBezTo>
                    <a:pt x="21866" y="4795"/>
                    <a:pt x="33443" y="0"/>
                    <a:pt x="45514" y="0"/>
                  </a:cubicBezTo>
                  <a:lnTo>
                    <a:pt x="1395955" y="0"/>
                  </a:lnTo>
                  <a:cubicBezTo>
                    <a:pt x="1421091" y="0"/>
                    <a:pt x="1441468" y="20377"/>
                    <a:pt x="1441468" y="4551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41468" cy="856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466331" y="1028700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8850" y="3418424"/>
            <a:ext cx="8675150" cy="502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1"/>
              </a:lnSpc>
            </a:pPr>
            <a:r>
              <a:rPr lang="en-US" b="true" sz="2348" i="true" spc="-46">
                <a:solidFill>
                  <a:srgbClr val="8AB2A6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🔹 Détection </a:t>
            </a:r>
            <a:r>
              <a:rPr lang="en-US" b="true" sz="2348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: capteurs IR détectent la présence</a:t>
            </a:r>
          </a:p>
          <a:p>
            <a:pPr algn="l">
              <a:lnSpc>
                <a:spcPts val="5071"/>
              </a:lnSpc>
            </a:pPr>
            <a:r>
              <a:rPr lang="en-US" b="true" sz="2348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🔹 </a:t>
            </a:r>
            <a:r>
              <a:rPr lang="en-US" b="true" sz="2348" i="true" spc="-46">
                <a:solidFill>
                  <a:srgbClr val="8AB2A6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Allumage ciblé</a:t>
            </a:r>
            <a:r>
              <a:rPr lang="en-US" b="true" sz="2348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: seul le lampadaire concerné s’allume</a:t>
            </a:r>
          </a:p>
          <a:p>
            <a:pPr algn="l">
              <a:lnSpc>
                <a:spcPts val="5071"/>
              </a:lnSpc>
            </a:pPr>
            <a:r>
              <a:rPr lang="en-US" b="true" sz="2348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🔹 </a:t>
            </a:r>
            <a:r>
              <a:rPr lang="en-US" b="true" sz="2348" i="true" spc="-46">
                <a:solidFill>
                  <a:srgbClr val="8AB2A6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Extinction automatique</a:t>
            </a:r>
            <a:r>
              <a:rPr lang="en-US" b="true" sz="2348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: lampes s’éteignent quand la zone est vide</a:t>
            </a:r>
          </a:p>
          <a:p>
            <a:pPr algn="l">
              <a:lnSpc>
                <a:spcPts val="5071"/>
              </a:lnSpc>
            </a:pPr>
            <a:r>
              <a:rPr lang="en-US" b="true" sz="2348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🔹 </a:t>
            </a:r>
            <a:r>
              <a:rPr lang="en-US" b="true" sz="2348" i="true" spc="-46">
                <a:solidFill>
                  <a:srgbClr val="8AB2A6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Modes Jour/Nuit</a:t>
            </a:r>
            <a:r>
              <a:rPr lang="en-US" b="true" sz="2348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: Jour = éteint / Nuit = intelligent</a:t>
            </a:r>
          </a:p>
          <a:p>
            <a:pPr algn="l">
              <a:lnSpc>
                <a:spcPts val="5071"/>
              </a:lnSpc>
            </a:pPr>
            <a:r>
              <a:rPr lang="en-US" b="true" sz="2348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🔹 </a:t>
            </a:r>
            <a:r>
              <a:rPr lang="en-US" b="true" sz="2348" i="true" spc="-46">
                <a:solidFill>
                  <a:srgbClr val="8AB2A6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Économie d’énergie </a:t>
            </a:r>
            <a:r>
              <a:rPr lang="en-US" b="true" sz="2348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: éclairage uniquement nécessaire</a:t>
            </a:r>
          </a:p>
          <a:p>
            <a:pPr algn="l">
              <a:lnSpc>
                <a:spcPts val="5071"/>
              </a:lnSpc>
            </a:pPr>
            <a:r>
              <a:rPr lang="en-US" b="true" sz="2348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🔹</a:t>
            </a:r>
            <a:r>
              <a:rPr lang="en-US" b="true" sz="2348" i="true" spc="-46">
                <a:solidFill>
                  <a:srgbClr val="8AB2A6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Sécurité optimisée</a:t>
            </a:r>
            <a:r>
              <a:rPr lang="en-US" b="true" sz="2348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: visibilité et confort pour les usagers</a:t>
            </a:r>
          </a:p>
          <a:p>
            <a:pPr algn="l">
              <a:lnSpc>
                <a:spcPts val="5071"/>
              </a:lnSpc>
            </a:pPr>
            <a:r>
              <a:rPr lang="en-US" b="true" sz="2348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🔹 </a:t>
            </a:r>
            <a:r>
              <a:rPr lang="en-US" b="true" sz="2348" i="true" spc="-46">
                <a:solidFill>
                  <a:srgbClr val="8AB2A6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Simplicité et efficacité </a:t>
            </a:r>
            <a:r>
              <a:rPr lang="en-US" b="true" sz="2348" i="true" spc="-46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: gestion autonome et fiable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6 of 19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4625" y="0"/>
            <a:ext cx="12858750" cy="10287000"/>
          </a:xfrm>
          <a:custGeom>
            <a:avLst/>
            <a:gdLst/>
            <a:ahLst/>
            <a:cxnLst/>
            <a:rect r="r" b="b" t="t" l="l"/>
            <a:pathLst>
              <a:path h="10287000" w="12858750">
                <a:moveTo>
                  <a:pt x="0" y="0"/>
                </a:moveTo>
                <a:lnTo>
                  <a:pt x="12858750" y="0"/>
                </a:lnTo>
                <a:lnTo>
                  <a:pt x="12858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7 of 19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4919" r="59656" b="4929"/>
          <a:stretch>
            <a:fillRect/>
          </a:stretch>
        </p:blipFill>
        <p:spPr>
          <a:xfrm flipH="false" flipV="false" rot="0">
            <a:off x="0" y="0"/>
            <a:ext cx="8188058" cy="10287000"/>
          </a:xfrm>
          <a:prstGeom prst="rect">
            <a:avLst/>
          </a:prstGeom>
        </p:spPr>
      </p:pic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13050" t="0" r="32517" b="0"/>
          <a:stretch>
            <a:fillRect/>
          </a:stretch>
        </p:blipFill>
        <p:spPr>
          <a:xfrm flipH="false" flipV="false" rot="0">
            <a:off x="8188058" y="0"/>
            <a:ext cx="10099942" cy="10432147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8 of 19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2134183" y="7922479"/>
            <a:ext cx="1238250" cy="3490793"/>
            <a:chOff x="0" y="0"/>
            <a:chExt cx="326123" cy="919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6123" cy="919386"/>
            </a:xfrm>
            <a:custGeom>
              <a:avLst/>
              <a:gdLst/>
              <a:ahLst/>
              <a:cxnLst/>
              <a:rect r="r" b="b" t="t" l="l"/>
              <a:pathLst>
                <a:path h="919386" w="326123">
                  <a:moveTo>
                    <a:pt x="0" y="0"/>
                  </a:moveTo>
                  <a:lnTo>
                    <a:pt x="326123" y="0"/>
                  </a:lnTo>
                  <a:lnTo>
                    <a:pt x="326123" y="919386"/>
                  </a:lnTo>
                  <a:lnTo>
                    <a:pt x="0" y="919386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26123" cy="947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886973" y="8852693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4" y="0"/>
                </a:lnTo>
                <a:lnTo>
                  <a:pt x="392114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461963" y="1042832"/>
            <a:ext cx="8115300" cy="3654992"/>
            <a:chOff x="0" y="0"/>
            <a:chExt cx="8459470" cy="381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59470" cy="3808730"/>
            </a:xfrm>
            <a:custGeom>
              <a:avLst/>
              <a:gdLst/>
              <a:ahLst/>
              <a:cxnLst/>
              <a:rect r="r" b="b" t="t" l="l"/>
              <a:pathLst>
                <a:path h="3808730" w="845947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102" r="0" b="-529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403585" y="5143500"/>
            <a:ext cx="6855715" cy="4114800"/>
            <a:chOff x="0" y="0"/>
            <a:chExt cx="6350000" cy="38112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3811270"/>
            </a:xfrm>
            <a:custGeom>
              <a:avLst/>
              <a:gdLst/>
              <a:ahLst/>
              <a:cxnLst/>
              <a:rect r="r" b="b" t="t" l="l"/>
              <a:pathLst>
                <a:path h="3811270" w="635000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6"/>
              <a:stretch>
                <a:fillRect l="-3351" t="0" r="-335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2238958" y="-1231046"/>
            <a:ext cx="1028700" cy="3490793"/>
            <a:chOff x="0" y="0"/>
            <a:chExt cx="270933" cy="9193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0933" cy="919386"/>
            </a:xfrm>
            <a:custGeom>
              <a:avLst/>
              <a:gdLst/>
              <a:ahLst/>
              <a:cxnLst/>
              <a:rect r="r" b="b" t="t" l="l"/>
              <a:pathLst>
                <a:path h="91938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919386"/>
                  </a:lnTo>
                  <a:lnTo>
                    <a:pt x="0" y="919386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70933" cy="947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144000" y="3971015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85850" y="1028700"/>
            <a:ext cx="7185031" cy="62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i="true" spc="-82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COMPOSANTS UTILISÉS: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66331" y="8943975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7424" y="2717289"/>
            <a:ext cx="361598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 i="true" spc="-5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Arduino Nano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6783799"/>
            <a:ext cx="435881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i="true" spc="-75">
                <a:solidFill>
                  <a:srgbClr val="FFFFFF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Ressources logicielles: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77424" y="3413434"/>
            <a:ext cx="55068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 i="true" spc="-5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3 lampes LED  (lampadaires)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77424" y="6155149"/>
            <a:ext cx="361598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 i="true" spc="-5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Fils de connexion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77424" y="4764499"/>
            <a:ext cx="742017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 i="true" spc="-5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4 capteurs IR (capteurs de mouvement)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77424" y="4108759"/>
            <a:ext cx="361598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 i="true" spc="-5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3 résistances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34574" y="5459824"/>
            <a:ext cx="361598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 i="true" spc="-5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bouton poussoir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7424" y="8245360"/>
            <a:ext cx="361598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i="true" spc="-49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Arduino IDE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7424" y="7660099"/>
            <a:ext cx="361598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i="true" spc="-49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Language C++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1955289"/>
            <a:ext cx="435881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i="true" spc="-75">
                <a:solidFill>
                  <a:srgbClr val="FFFFFF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Matériel électronique: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77424" y="8807335"/>
            <a:ext cx="361598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i="true" spc="-49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Serial Monitor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9 of 19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28" r="0" b="-1291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1330"/>
            <a:ext cx="9714591" cy="10287000"/>
          </a:xfrm>
          <a:custGeom>
            <a:avLst/>
            <a:gdLst/>
            <a:ahLst/>
            <a:cxnLst/>
            <a:rect r="r" b="b" t="t" l="l"/>
            <a:pathLst>
              <a:path h="10287000" w="9714591">
                <a:moveTo>
                  <a:pt x="0" y="0"/>
                </a:moveTo>
                <a:lnTo>
                  <a:pt x="9714591" y="0"/>
                </a:lnTo>
                <a:lnTo>
                  <a:pt x="971459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983340" y="6395147"/>
            <a:ext cx="594946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49">
                <a:solidFill>
                  <a:srgbClr val="8AB2A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E:Énumération (Enumeration)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84416" y="6795197"/>
            <a:ext cx="426072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Une liste fermée de valeurs constantes possibles (JOUR, NUIT, MAINTENANCE, DEMO).</a:t>
            </a:r>
          </a:p>
          <a:p>
            <a:pPr algn="l">
              <a:lnSpc>
                <a:spcPts val="25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83340" y="457459"/>
            <a:ext cx="48306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49">
                <a:solidFill>
                  <a:srgbClr val="8AB2A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A:Classe Abstraite (Abstract)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11071" y="853606"/>
            <a:ext cx="4112959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Classe Abstraite (Abstract)</a:t>
            </a:r>
          </a:p>
          <a:p>
            <a:pPr algn="l">
              <a:lnSpc>
                <a:spcPts val="2519"/>
              </a:lnSpc>
            </a:pPr>
            <a:r>
              <a:rPr lang="en-US" sz="2099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Une classe qui contient des méthodes non implémentées et qui sert de modèle pour d'autres classes, on ne peut pas créer d'objets directement avec elle.</a:t>
            </a:r>
          </a:p>
          <a:p>
            <a:pPr algn="l">
              <a:lnSpc>
                <a:spcPts val="251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750167" y="3737672"/>
            <a:ext cx="512620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49">
                <a:solidFill>
                  <a:srgbClr val="8AB2A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C:Classe Concrète (Concrete)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25770" y="4137722"/>
            <a:ext cx="4281833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spc="-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Une classe normale et complète qui implémente toutes ses méthodes et avec laquelle on peut créer des objets réels.</a:t>
            </a:r>
          </a:p>
          <a:p>
            <a:pPr algn="l">
              <a:lnSpc>
                <a:spcPts val="25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10 of 19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7636" y="-977874"/>
            <a:ext cx="10195903" cy="11421925"/>
          </a:xfrm>
          <a:custGeom>
            <a:avLst/>
            <a:gdLst/>
            <a:ahLst/>
            <a:cxnLst/>
            <a:rect r="r" b="b" t="t" l="l"/>
            <a:pathLst>
              <a:path h="11421925" w="10195903">
                <a:moveTo>
                  <a:pt x="0" y="0"/>
                </a:moveTo>
                <a:lnTo>
                  <a:pt x="10195903" y="0"/>
                </a:lnTo>
                <a:lnTo>
                  <a:pt x="10195903" y="11421925"/>
                </a:lnTo>
                <a:lnTo>
                  <a:pt x="0" y="11421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1" t="0" r="-131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1466" y="9566888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5" y="0"/>
                </a:lnTo>
                <a:lnTo>
                  <a:pt x="392115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14515654" y="6142207"/>
            <a:ext cx="3979774" cy="2924950"/>
            <a:chOff x="0" y="0"/>
            <a:chExt cx="1048171" cy="7703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8171" cy="770357"/>
            </a:xfrm>
            <a:custGeom>
              <a:avLst/>
              <a:gdLst/>
              <a:ahLst/>
              <a:cxnLst/>
              <a:rect r="r" b="b" t="t" l="l"/>
              <a:pathLst>
                <a:path h="770357" w="1048171">
                  <a:moveTo>
                    <a:pt x="0" y="0"/>
                  </a:moveTo>
                  <a:lnTo>
                    <a:pt x="1048171" y="0"/>
                  </a:lnTo>
                  <a:lnTo>
                    <a:pt x="1048171" y="770357"/>
                  </a:lnTo>
                  <a:lnTo>
                    <a:pt x="0" y="770357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048171" cy="798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1028700"/>
            <a:ext cx="4584772" cy="4114800"/>
            <a:chOff x="0" y="0"/>
            <a:chExt cx="1207512" cy="10837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07512" cy="1083733"/>
            </a:xfrm>
            <a:custGeom>
              <a:avLst/>
              <a:gdLst/>
              <a:ahLst/>
              <a:cxnLst/>
              <a:rect r="r" b="b" t="t" l="l"/>
              <a:pathLst>
                <a:path h="1083733" w="1207512">
                  <a:moveTo>
                    <a:pt x="0" y="0"/>
                  </a:moveTo>
                  <a:lnTo>
                    <a:pt x="1207512" y="0"/>
                  </a:lnTo>
                  <a:lnTo>
                    <a:pt x="1207512" y="1083733"/>
                  </a:lnTo>
                  <a:lnTo>
                    <a:pt x="0" y="1083733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07512" cy="111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99687" y="9658170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1180424"/>
            <a:ext cx="8670820" cy="3963076"/>
            <a:chOff x="0" y="0"/>
            <a:chExt cx="1348443" cy="6163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8443" cy="616317"/>
            </a:xfrm>
            <a:custGeom>
              <a:avLst/>
              <a:gdLst/>
              <a:ahLst/>
              <a:cxnLst/>
              <a:rect r="r" b="b" t="t" l="l"/>
              <a:pathLst>
                <a:path h="616317" w="1348443">
                  <a:moveTo>
                    <a:pt x="1348443" y="45536"/>
                  </a:moveTo>
                  <a:lnTo>
                    <a:pt x="1348443" y="570781"/>
                  </a:lnTo>
                  <a:cubicBezTo>
                    <a:pt x="1348443" y="595930"/>
                    <a:pt x="1328056" y="616317"/>
                    <a:pt x="1302907" y="616317"/>
                  </a:cubicBezTo>
                  <a:lnTo>
                    <a:pt x="45536" y="616317"/>
                  </a:lnTo>
                  <a:cubicBezTo>
                    <a:pt x="20387" y="616317"/>
                    <a:pt x="0" y="595930"/>
                    <a:pt x="0" y="570781"/>
                  </a:cubicBezTo>
                  <a:lnTo>
                    <a:pt x="0" y="45536"/>
                  </a:lnTo>
                  <a:cubicBezTo>
                    <a:pt x="0" y="20387"/>
                    <a:pt x="20387" y="0"/>
                    <a:pt x="45536" y="0"/>
                  </a:cubicBezTo>
                  <a:lnTo>
                    <a:pt x="1302907" y="0"/>
                  </a:lnTo>
                  <a:cubicBezTo>
                    <a:pt x="1328056" y="0"/>
                    <a:pt x="1348443" y="20387"/>
                    <a:pt x="1348443" y="45536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348443" cy="61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3581" y="5549129"/>
            <a:ext cx="8460419" cy="3709171"/>
            <a:chOff x="0" y="0"/>
            <a:chExt cx="1405789" cy="6163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05789" cy="616317"/>
            </a:xfrm>
            <a:custGeom>
              <a:avLst/>
              <a:gdLst/>
              <a:ahLst/>
              <a:cxnLst/>
              <a:rect r="r" b="b" t="t" l="l"/>
              <a:pathLst>
                <a:path h="616317" w="1405789">
                  <a:moveTo>
                    <a:pt x="1405789" y="46669"/>
                  </a:moveTo>
                  <a:lnTo>
                    <a:pt x="1405789" y="569648"/>
                  </a:lnTo>
                  <a:cubicBezTo>
                    <a:pt x="1405789" y="582026"/>
                    <a:pt x="1400872" y="593896"/>
                    <a:pt x="1392119" y="602648"/>
                  </a:cubicBezTo>
                  <a:cubicBezTo>
                    <a:pt x="1383367" y="611400"/>
                    <a:pt x="1371497" y="616317"/>
                    <a:pt x="1359120" y="616317"/>
                  </a:cubicBezTo>
                  <a:lnTo>
                    <a:pt x="46669" y="616317"/>
                  </a:lnTo>
                  <a:cubicBezTo>
                    <a:pt x="34291" y="616317"/>
                    <a:pt x="22421" y="611400"/>
                    <a:pt x="13669" y="602648"/>
                  </a:cubicBezTo>
                  <a:cubicBezTo>
                    <a:pt x="4917" y="593896"/>
                    <a:pt x="0" y="582026"/>
                    <a:pt x="0" y="569648"/>
                  </a:cubicBezTo>
                  <a:lnTo>
                    <a:pt x="0" y="46669"/>
                  </a:lnTo>
                  <a:cubicBezTo>
                    <a:pt x="0" y="34291"/>
                    <a:pt x="4917" y="22421"/>
                    <a:pt x="13669" y="13669"/>
                  </a:cubicBezTo>
                  <a:cubicBezTo>
                    <a:pt x="22421" y="4917"/>
                    <a:pt x="34291" y="0"/>
                    <a:pt x="46669" y="0"/>
                  </a:cubicBezTo>
                  <a:lnTo>
                    <a:pt x="1359120" y="0"/>
                  </a:lnTo>
                  <a:cubicBezTo>
                    <a:pt x="1384894" y="0"/>
                    <a:pt x="1405789" y="20894"/>
                    <a:pt x="1405789" y="46669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405789" cy="61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83581" y="6132682"/>
            <a:ext cx="8115300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✔ Classe abstraite de base.</a:t>
            </a:r>
          </a:p>
          <a:p>
            <a:pPr algn="l" marL="626102" indent="-313051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Sert de c</a:t>
            </a: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ontrat pour tous les composants du système (lampadaires, capteurs, …).</a:t>
            </a:r>
          </a:p>
          <a:p>
            <a:pPr algn="l" marL="626102" indent="-313051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Permet de traiter tous les composants de manière uniforme dans le réseau.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87524" y="1028700"/>
            <a:ext cx="7428371" cy="4125445"/>
          </a:xfrm>
          <a:custGeom>
            <a:avLst/>
            <a:gdLst/>
            <a:ahLst/>
            <a:cxnLst/>
            <a:rect r="r" b="b" t="t" l="l"/>
            <a:pathLst>
              <a:path h="4125445" w="7428371">
                <a:moveTo>
                  <a:pt x="0" y="0"/>
                </a:moveTo>
                <a:lnTo>
                  <a:pt x="7428370" y="0"/>
                </a:lnTo>
                <a:lnTo>
                  <a:pt x="7428370" y="4125445"/>
                </a:lnTo>
                <a:lnTo>
                  <a:pt x="0" y="41254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47534" y="6142207"/>
            <a:ext cx="7708232" cy="2924950"/>
          </a:xfrm>
          <a:custGeom>
            <a:avLst/>
            <a:gdLst/>
            <a:ahLst/>
            <a:cxnLst/>
            <a:rect r="r" b="b" t="t" l="l"/>
            <a:pathLst>
              <a:path h="2924950" w="7708232">
                <a:moveTo>
                  <a:pt x="0" y="0"/>
                </a:moveTo>
                <a:lnTo>
                  <a:pt x="7708232" y="0"/>
                </a:lnTo>
                <a:lnTo>
                  <a:pt x="7708232" y="2924949"/>
                </a:lnTo>
                <a:lnTo>
                  <a:pt x="0" y="2924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888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144000" y="1457325"/>
            <a:ext cx="8670820" cy="326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3"/>
              </a:lnSpc>
            </a:pPr>
            <a:r>
              <a:rPr lang="en-US" sz="2627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✔ Configuration des pins Arduino</a:t>
            </a:r>
          </a:p>
          <a:p>
            <a:pPr algn="l" marL="567304" indent="-283652" lvl="1">
              <a:lnSpc>
                <a:spcPts val="3153"/>
              </a:lnSpc>
              <a:spcBef>
                <a:spcPct val="0"/>
              </a:spcBef>
              <a:buFont typeface="Arial"/>
              <a:buChar char="•"/>
            </a:pPr>
            <a:r>
              <a:rPr lang="en-US" sz="2627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Définit l</a:t>
            </a:r>
            <a:r>
              <a:rPr lang="en-US" sz="2627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  <a:r>
              <a:rPr lang="en-US" sz="2627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broches utilisées par les lampadaires (PWM) et les capteurs (digital).</a:t>
            </a:r>
          </a:p>
          <a:p>
            <a:pPr algn="l" marL="626111" indent="-313055" lvl="1">
              <a:lnSpc>
                <a:spcPts val="348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spc="-5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Donne des noms clairs aux pins pour rendre le code lisible et modifiable facilement.</a:t>
            </a:r>
          </a:p>
          <a:p>
            <a:pPr algn="l" marL="567304" indent="-283652" lvl="1">
              <a:lnSpc>
                <a:spcPts val="3153"/>
              </a:lnSpc>
              <a:spcBef>
                <a:spcPct val="0"/>
              </a:spcBef>
              <a:buFont typeface="Arial"/>
              <a:buChar char="•"/>
            </a:pPr>
            <a:r>
              <a:rPr lang="en-US" sz="2627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Centralise la configuration matérielle pour simplifier la maintenance du projet.</a:t>
            </a:r>
          </a:p>
          <a:p>
            <a:pPr algn="l">
              <a:lnSpc>
                <a:spcPts val="3153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11 of 19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5181" y="9497772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5" y="0"/>
                </a:lnTo>
                <a:lnTo>
                  <a:pt x="392115" y="392115"/>
                </a:lnTo>
                <a:lnTo>
                  <a:pt x="0" y="39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6878" y="511047"/>
            <a:ext cx="4584772" cy="4632453"/>
            <a:chOff x="0" y="0"/>
            <a:chExt cx="1207512" cy="12200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7512" cy="1220070"/>
            </a:xfrm>
            <a:custGeom>
              <a:avLst/>
              <a:gdLst/>
              <a:ahLst/>
              <a:cxnLst/>
              <a:rect r="r" b="b" t="t" l="l"/>
              <a:pathLst>
                <a:path h="1220070" w="1207512">
                  <a:moveTo>
                    <a:pt x="0" y="0"/>
                  </a:moveTo>
                  <a:lnTo>
                    <a:pt x="1207512" y="0"/>
                  </a:lnTo>
                  <a:lnTo>
                    <a:pt x="1207512" y="1220070"/>
                  </a:lnTo>
                  <a:lnTo>
                    <a:pt x="0" y="1220070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07512" cy="124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1180424"/>
            <a:ext cx="8115300" cy="3709171"/>
            <a:chOff x="0" y="0"/>
            <a:chExt cx="1348443" cy="6163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8443" cy="616317"/>
            </a:xfrm>
            <a:custGeom>
              <a:avLst/>
              <a:gdLst/>
              <a:ahLst/>
              <a:cxnLst/>
              <a:rect r="r" b="b" t="t" l="l"/>
              <a:pathLst>
                <a:path h="616317" w="1348443">
                  <a:moveTo>
                    <a:pt x="1348443" y="48654"/>
                  </a:moveTo>
                  <a:lnTo>
                    <a:pt x="1348443" y="567664"/>
                  </a:lnTo>
                  <a:cubicBezTo>
                    <a:pt x="1348443" y="594534"/>
                    <a:pt x="1326660" y="616317"/>
                    <a:pt x="1299790" y="616317"/>
                  </a:cubicBezTo>
                  <a:lnTo>
                    <a:pt x="48654" y="616317"/>
                  </a:lnTo>
                  <a:cubicBezTo>
                    <a:pt x="21783" y="616317"/>
                    <a:pt x="0" y="594534"/>
                    <a:pt x="0" y="567664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lnTo>
                    <a:pt x="1299790" y="0"/>
                  </a:lnTo>
                  <a:cubicBezTo>
                    <a:pt x="1326660" y="0"/>
                    <a:pt x="1348443" y="21783"/>
                    <a:pt x="1348443" y="4865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348443" cy="61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07296" y="6517890"/>
            <a:ext cx="811530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2" indent="-313051" lvl="1">
              <a:lnSpc>
                <a:spcPts val="3479"/>
              </a:lnSpc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Définir le comportement général d’un capteur.</a:t>
            </a:r>
          </a:p>
          <a:p>
            <a:pPr algn="l" marL="626102" indent="-313051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Permet d’avoir différents types de capteurs (IR, ultrasons…) avec la même interface.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5170" y="5549129"/>
            <a:ext cx="8115300" cy="3709171"/>
            <a:chOff x="0" y="0"/>
            <a:chExt cx="1348443" cy="6163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8443" cy="616317"/>
            </a:xfrm>
            <a:custGeom>
              <a:avLst/>
              <a:gdLst/>
              <a:ahLst/>
              <a:cxnLst/>
              <a:rect r="r" b="b" t="t" l="l"/>
              <a:pathLst>
                <a:path h="616317" w="1348443">
                  <a:moveTo>
                    <a:pt x="1348443" y="48654"/>
                  </a:moveTo>
                  <a:lnTo>
                    <a:pt x="1348443" y="567664"/>
                  </a:lnTo>
                  <a:cubicBezTo>
                    <a:pt x="1348443" y="594534"/>
                    <a:pt x="1326660" y="616317"/>
                    <a:pt x="1299790" y="616317"/>
                  </a:cubicBezTo>
                  <a:lnTo>
                    <a:pt x="48654" y="616317"/>
                  </a:lnTo>
                  <a:cubicBezTo>
                    <a:pt x="21783" y="616317"/>
                    <a:pt x="0" y="594534"/>
                    <a:pt x="0" y="567664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lnTo>
                    <a:pt x="1299790" y="0"/>
                  </a:lnTo>
                  <a:cubicBezTo>
                    <a:pt x="1326660" y="0"/>
                    <a:pt x="1348443" y="21783"/>
                    <a:pt x="1348443" y="4865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348443" cy="61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4308226" y="6404541"/>
            <a:ext cx="3979774" cy="1998348"/>
            <a:chOff x="0" y="0"/>
            <a:chExt cx="1048171" cy="5263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171" cy="526314"/>
            </a:xfrm>
            <a:custGeom>
              <a:avLst/>
              <a:gdLst/>
              <a:ahLst/>
              <a:cxnLst/>
              <a:rect r="r" b="b" t="t" l="l"/>
              <a:pathLst>
                <a:path h="526314" w="1048171">
                  <a:moveTo>
                    <a:pt x="0" y="0"/>
                  </a:moveTo>
                  <a:lnTo>
                    <a:pt x="1048171" y="0"/>
                  </a:lnTo>
                  <a:lnTo>
                    <a:pt x="1048171" y="526314"/>
                  </a:lnTo>
                  <a:lnTo>
                    <a:pt x="0" y="526314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48171" cy="554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11238" y="511047"/>
            <a:ext cx="7933312" cy="4670737"/>
          </a:xfrm>
          <a:custGeom>
            <a:avLst/>
            <a:gdLst/>
            <a:ahLst/>
            <a:cxnLst/>
            <a:rect r="r" b="b" t="t" l="l"/>
            <a:pathLst>
              <a:path h="4670737" w="7933312">
                <a:moveTo>
                  <a:pt x="0" y="0"/>
                </a:moveTo>
                <a:lnTo>
                  <a:pt x="7933312" y="0"/>
                </a:lnTo>
                <a:lnTo>
                  <a:pt x="7933312" y="4670737"/>
                </a:lnTo>
                <a:lnTo>
                  <a:pt x="0" y="46707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3401" y="9589054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1960590"/>
            <a:ext cx="811530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2" indent="-313051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Affiche sur le </a:t>
            </a: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Serial M</a:t>
            </a: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onitor les événements </a:t>
            </a: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importants du système.</a:t>
            </a:r>
          </a:p>
          <a:p>
            <a:pPr algn="l" marL="626102" indent="-313051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Permet de déboguer et suivre l’état du système.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144000" y="6404541"/>
            <a:ext cx="8535317" cy="1998348"/>
          </a:xfrm>
          <a:custGeom>
            <a:avLst/>
            <a:gdLst/>
            <a:ahLst/>
            <a:cxnLst/>
            <a:rect r="r" b="b" t="t" l="l"/>
            <a:pathLst>
              <a:path h="1998348" w="8535317">
                <a:moveTo>
                  <a:pt x="0" y="0"/>
                </a:moveTo>
                <a:lnTo>
                  <a:pt x="8535317" y="0"/>
                </a:lnTo>
                <a:lnTo>
                  <a:pt x="8535317" y="1998348"/>
                </a:lnTo>
                <a:lnTo>
                  <a:pt x="0" y="1998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4585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12 of 19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234" y="9459582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5" y="0"/>
                </a:lnTo>
                <a:lnTo>
                  <a:pt x="392115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14515654" y="6290232"/>
            <a:ext cx="3979774" cy="2427933"/>
            <a:chOff x="0" y="0"/>
            <a:chExt cx="1048171" cy="6394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8171" cy="639456"/>
            </a:xfrm>
            <a:custGeom>
              <a:avLst/>
              <a:gdLst/>
              <a:ahLst/>
              <a:cxnLst/>
              <a:rect r="r" b="b" t="t" l="l"/>
              <a:pathLst>
                <a:path h="639456" w="1048171">
                  <a:moveTo>
                    <a:pt x="0" y="0"/>
                  </a:moveTo>
                  <a:lnTo>
                    <a:pt x="1048171" y="0"/>
                  </a:lnTo>
                  <a:lnTo>
                    <a:pt x="1048171" y="639456"/>
                  </a:lnTo>
                  <a:lnTo>
                    <a:pt x="0" y="639456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048171" cy="668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1028700"/>
            <a:ext cx="4584772" cy="4020095"/>
            <a:chOff x="0" y="0"/>
            <a:chExt cx="1207512" cy="1058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07512" cy="1058790"/>
            </a:xfrm>
            <a:custGeom>
              <a:avLst/>
              <a:gdLst/>
              <a:ahLst/>
              <a:cxnLst/>
              <a:rect r="r" b="b" t="t" l="l"/>
              <a:pathLst>
                <a:path h="1058790" w="1207512">
                  <a:moveTo>
                    <a:pt x="0" y="0"/>
                  </a:moveTo>
                  <a:lnTo>
                    <a:pt x="1207512" y="0"/>
                  </a:lnTo>
                  <a:lnTo>
                    <a:pt x="1207512" y="1058790"/>
                  </a:lnTo>
                  <a:lnTo>
                    <a:pt x="0" y="1058790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07512" cy="1087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81454" y="9550864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1180424"/>
            <a:ext cx="8115300" cy="3709171"/>
            <a:chOff x="0" y="0"/>
            <a:chExt cx="1348443" cy="6163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8443" cy="616317"/>
            </a:xfrm>
            <a:custGeom>
              <a:avLst/>
              <a:gdLst/>
              <a:ahLst/>
              <a:cxnLst/>
              <a:rect r="r" b="b" t="t" l="l"/>
              <a:pathLst>
                <a:path h="616317" w="1348443">
                  <a:moveTo>
                    <a:pt x="1348443" y="48654"/>
                  </a:moveTo>
                  <a:lnTo>
                    <a:pt x="1348443" y="567664"/>
                  </a:lnTo>
                  <a:cubicBezTo>
                    <a:pt x="1348443" y="594534"/>
                    <a:pt x="1326660" y="616317"/>
                    <a:pt x="1299790" y="616317"/>
                  </a:cubicBezTo>
                  <a:lnTo>
                    <a:pt x="48654" y="616317"/>
                  </a:lnTo>
                  <a:cubicBezTo>
                    <a:pt x="21783" y="616317"/>
                    <a:pt x="0" y="594534"/>
                    <a:pt x="0" y="567664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lnTo>
                    <a:pt x="1299790" y="0"/>
                  </a:lnTo>
                  <a:cubicBezTo>
                    <a:pt x="1326660" y="0"/>
                    <a:pt x="1348443" y="21783"/>
                    <a:pt x="1348443" y="4865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348443" cy="61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0" y="1714772"/>
            <a:ext cx="811530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2" indent="-313051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Détecte la présence sur une zone (passage devant un lampadaire).</a:t>
            </a:r>
          </a:p>
          <a:p>
            <a:pPr algn="l" marL="626102" indent="-313051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Debounce pour éviter les fausses détections.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23280" y="5549129"/>
            <a:ext cx="8115300" cy="3709171"/>
            <a:chOff x="0" y="0"/>
            <a:chExt cx="1348443" cy="6163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8443" cy="616317"/>
            </a:xfrm>
            <a:custGeom>
              <a:avLst/>
              <a:gdLst/>
              <a:ahLst/>
              <a:cxnLst/>
              <a:rect r="r" b="b" t="t" l="l"/>
              <a:pathLst>
                <a:path h="616317" w="1348443">
                  <a:moveTo>
                    <a:pt x="1348443" y="48654"/>
                  </a:moveTo>
                  <a:lnTo>
                    <a:pt x="1348443" y="567664"/>
                  </a:lnTo>
                  <a:cubicBezTo>
                    <a:pt x="1348443" y="594534"/>
                    <a:pt x="1326660" y="616317"/>
                    <a:pt x="1299790" y="616317"/>
                  </a:cubicBezTo>
                  <a:lnTo>
                    <a:pt x="48654" y="616317"/>
                  </a:lnTo>
                  <a:cubicBezTo>
                    <a:pt x="21783" y="616317"/>
                    <a:pt x="0" y="594534"/>
                    <a:pt x="0" y="567664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lnTo>
                    <a:pt x="1299790" y="0"/>
                  </a:lnTo>
                  <a:cubicBezTo>
                    <a:pt x="1326660" y="0"/>
                    <a:pt x="1348443" y="21783"/>
                    <a:pt x="1348443" y="4865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48443" cy="61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30964" y="5860665"/>
            <a:ext cx="8115300" cy="307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2" indent="-313051" lvl="1">
              <a:lnSpc>
                <a:spcPts val="3479"/>
              </a:lnSpc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Classe abstraite pour les lampes. </a:t>
            </a:r>
          </a:p>
          <a:p>
            <a:pPr algn="l" marL="626102" indent="-313051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Défini</a:t>
            </a: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 l’i</a:t>
            </a: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nterface commune à tous les luminaires.</a:t>
            </a:r>
          </a:p>
          <a:p>
            <a:pPr algn="l" marL="626102" indent="-313051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Permet de créer différents types de luminaires avec la même logique (ex : lampes LED,..).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52578" y="1021224"/>
            <a:ext cx="7037822" cy="4027571"/>
          </a:xfrm>
          <a:custGeom>
            <a:avLst/>
            <a:gdLst/>
            <a:ahLst/>
            <a:cxnLst/>
            <a:rect r="r" b="b" t="t" l="l"/>
            <a:pathLst>
              <a:path h="4027571" w="7037822">
                <a:moveTo>
                  <a:pt x="0" y="0"/>
                </a:moveTo>
                <a:lnTo>
                  <a:pt x="7037822" y="0"/>
                </a:lnTo>
                <a:lnTo>
                  <a:pt x="7037822" y="4027571"/>
                </a:lnTo>
                <a:lnTo>
                  <a:pt x="0" y="4027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69" r="0" b="-56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289070" y="6290232"/>
            <a:ext cx="7970230" cy="2435348"/>
          </a:xfrm>
          <a:custGeom>
            <a:avLst/>
            <a:gdLst/>
            <a:ahLst/>
            <a:cxnLst/>
            <a:rect r="r" b="b" t="t" l="l"/>
            <a:pathLst>
              <a:path h="2435348" w="7970230">
                <a:moveTo>
                  <a:pt x="0" y="0"/>
                </a:moveTo>
                <a:lnTo>
                  <a:pt x="7970230" y="0"/>
                </a:lnTo>
                <a:lnTo>
                  <a:pt x="7970230" y="2435348"/>
                </a:lnTo>
                <a:lnTo>
                  <a:pt x="0" y="2435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13 of 19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234" y="9317538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5" y="0"/>
                </a:lnTo>
                <a:lnTo>
                  <a:pt x="392115" y="392115"/>
                </a:lnTo>
                <a:lnTo>
                  <a:pt x="0" y="392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14515654" y="5376066"/>
            <a:ext cx="3979774" cy="4333587"/>
            <a:chOff x="0" y="0"/>
            <a:chExt cx="1048171" cy="11413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8171" cy="1141356"/>
            </a:xfrm>
            <a:custGeom>
              <a:avLst/>
              <a:gdLst/>
              <a:ahLst/>
              <a:cxnLst/>
              <a:rect r="r" b="b" t="t" l="l"/>
              <a:pathLst>
                <a:path h="1141356" w="1048171">
                  <a:moveTo>
                    <a:pt x="0" y="0"/>
                  </a:moveTo>
                  <a:lnTo>
                    <a:pt x="1048171" y="0"/>
                  </a:lnTo>
                  <a:lnTo>
                    <a:pt x="1048171" y="1141356"/>
                  </a:lnTo>
                  <a:lnTo>
                    <a:pt x="0" y="1141356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048171" cy="1169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1042193"/>
            <a:ext cx="4584772" cy="3608445"/>
            <a:chOff x="0" y="0"/>
            <a:chExt cx="1207512" cy="9503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07512" cy="950372"/>
            </a:xfrm>
            <a:custGeom>
              <a:avLst/>
              <a:gdLst/>
              <a:ahLst/>
              <a:cxnLst/>
              <a:rect r="r" b="b" t="t" l="l"/>
              <a:pathLst>
                <a:path h="950372" w="1207512">
                  <a:moveTo>
                    <a:pt x="0" y="0"/>
                  </a:moveTo>
                  <a:lnTo>
                    <a:pt x="1207512" y="0"/>
                  </a:lnTo>
                  <a:lnTo>
                    <a:pt x="1207512" y="950372"/>
                  </a:lnTo>
                  <a:lnTo>
                    <a:pt x="0" y="950372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07512" cy="978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81454" y="9408820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1180424"/>
            <a:ext cx="8115300" cy="3709171"/>
            <a:chOff x="0" y="0"/>
            <a:chExt cx="1348443" cy="6163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8443" cy="616317"/>
            </a:xfrm>
            <a:custGeom>
              <a:avLst/>
              <a:gdLst/>
              <a:ahLst/>
              <a:cxnLst/>
              <a:rect r="r" b="b" t="t" l="l"/>
              <a:pathLst>
                <a:path h="616317" w="1348443">
                  <a:moveTo>
                    <a:pt x="1348443" y="48654"/>
                  </a:moveTo>
                  <a:lnTo>
                    <a:pt x="1348443" y="567664"/>
                  </a:lnTo>
                  <a:cubicBezTo>
                    <a:pt x="1348443" y="594534"/>
                    <a:pt x="1326660" y="616317"/>
                    <a:pt x="1299790" y="616317"/>
                  </a:cubicBezTo>
                  <a:lnTo>
                    <a:pt x="48654" y="616317"/>
                  </a:lnTo>
                  <a:cubicBezTo>
                    <a:pt x="21783" y="616317"/>
                    <a:pt x="0" y="594534"/>
                    <a:pt x="0" y="567664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lnTo>
                    <a:pt x="1299790" y="0"/>
                  </a:lnTo>
                  <a:cubicBezTo>
                    <a:pt x="1326660" y="0"/>
                    <a:pt x="1348443" y="21783"/>
                    <a:pt x="1348443" y="4865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348443" cy="61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0" y="1720559"/>
            <a:ext cx="7361541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4" indent="-291462" lvl="1">
              <a:lnSpc>
                <a:spcPts val="3239"/>
              </a:lnSpc>
              <a:buFont typeface="Arial"/>
              <a:buChar char="•"/>
            </a:pPr>
            <a:r>
              <a:rPr lang="en-US" sz="2699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Lampe concrète.</a:t>
            </a:r>
          </a:p>
          <a:p>
            <a:pPr algn="l" marL="582924" indent="-291462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Gé</a:t>
            </a:r>
            <a:r>
              <a:rPr lang="en-US" sz="2699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rer l’</a:t>
            </a:r>
            <a:r>
              <a:rPr lang="en-US" sz="2699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allumage/extinction et l’intensité PWM.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669291" y="5561310"/>
            <a:ext cx="8115300" cy="3709171"/>
            <a:chOff x="0" y="0"/>
            <a:chExt cx="1348443" cy="6163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8443" cy="616317"/>
            </a:xfrm>
            <a:custGeom>
              <a:avLst/>
              <a:gdLst/>
              <a:ahLst/>
              <a:cxnLst/>
              <a:rect r="r" b="b" t="t" l="l"/>
              <a:pathLst>
                <a:path h="616317" w="1348443">
                  <a:moveTo>
                    <a:pt x="1348443" y="48654"/>
                  </a:moveTo>
                  <a:lnTo>
                    <a:pt x="1348443" y="567664"/>
                  </a:lnTo>
                  <a:cubicBezTo>
                    <a:pt x="1348443" y="594534"/>
                    <a:pt x="1326660" y="616317"/>
                    <a:pt x="1299790" y="616317"/>
                  </a:cubicBezTo>
                  <a:lnTo>
                    <a:pt x="48654" y="616317"/>
                  </a:lnTo>
                  <a:cubicBezTo>
                    <a:pt x="21783" y="616317"/>
                    <a:pt x="0" y="594534"/>
                    <a:pt x="0" y="567664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lnTo>
                    <a:pt x="1299790" y="0"/>
                  </a:lnTo>
                  <a:cubicBezTo>
                    <a:pt x="1326660" y="0"/>
                    <a:pt x="1348443" y="21783"/>
                    <a:pt x="1348443" y="4865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48443" cy="61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65349" y="5778927"/>
            <a:ext cx="7754716" cy="409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Défi</a:t>
            </a:r>
            <a:r>
              <a:rPr lang="en-US" sz="2699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nit les 4 modes du système :</a:t>
            </a:r>
          </a:p>
          <a:p>
            <a:pPr algn="l" marL="582924" indent="-291462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JOUR : Lampe éteinte, capteurs ignorés.</a:t>
            </a:r>
          </a:p>
          <a:p>
            <a:pPr algn="l" marL="582924" indent="-291462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NUIT : Mode normal : allumage via capteurs.</a:t>
            </a:r>
          </a:p>
          <a:p>
            <a:pPr algn="l" marL="582924" indent="-291462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MAINTENANCE : Toutes les lampes allumées pour inspection ou tests.</a:t>
            </a:r>
          </a:p>
          <a:p>
            <a:pPr algn="l" marL="582924" indent="-291462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DEMO : Clignotement séquentiel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Gère le bouton physiques pour changer le mode du système.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</a:p>
          <a:p>
            <a:pPr algn="l">
              <a:lnSpc>
                <a:spcPts val="3239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21975" y="1018953"/>
            <a:ext cx="7114472" cy="3631684"/>
          </a:xfrm>
          <a:custGeom>
            <a:avLst/>
            <a:gdLst/>
            <a:ahLst/>
            <a:cxnLst/>
            <a:rect r="r" b="b" t="t" l="l"/>
            <a:pathLst>
              <a:path h="3631684" w="7114472">
                <a:moveTo>
                  <a:pt x="0" y="0"/>
                </a:moveTo>
                <a:lnTo>
                  <a:pt x="7114472" y="0"/>
                </a:lnTo>
                <a:lnTo>
                  <a:pt x="7114472" y="3631685"/>
                </a:lnTo>
                <a:lnTo>
                  <a:pt x="0" y="3631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92" t="0" r="-1692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090591" y="5376066"/>
            <a:ext cx="6222118" cy="4333587"/>
          </a:xfrm>
          <a:custGeom>
            <a:avLst/>
            <a:gdLst/>
            <a:ahLst/>
            <a:cxnLst/>
            <a:rect r="r" b="b" t="t" l="l"/>
            <a:pathLst>
              <a:path h="4333587" w="6222118">
                <a:moveTo>
                  <a:pt x="0" y="0"/>
                </a:moveTo>
                <a:lnTo>
                  <a:pt x="6222118" y="0"/>
                </a:lnTo>
                <a:lnTo>
                  <a:pt x="6222118" y="4333587"/>
                </a:lnTo>
                <a:lnTo>
                  <a:pt x="0" y="43335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14 of 19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5181" y="9462476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5" y="0"/>
                </a:lnTo>
                <a:lnTo>
                  <a:pt x="392115" y="392115"/>
                </a:lnTo>
                <a:lnTo>
                  <a:pt x="0" y="39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14515654" y="5344953"/>
            <a:ext cx="3979774" cy="4117523"/>
            <a:chOff x="0" y="0"/>
            <a:chExt cx="1048171" cy="1084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8171" cy="1084450"/>
            </a:xfrm>
            <a:custGeom>
              <a:avLst/>
              <a:gdLst/>
              <a:ahLst/>
              <a:cxnLst/>
              <a:rect r="r" b="b" t="t" l="l"/>
              <a:pathLst>
                <a:path h="1084450" w="1048171">
                  <a:moveTo>
                    <a:pt x="0" y="0"/>
                  </a:moveTo>
                  <a:lnTo>
                    <a:pt x="1048171" y="0"/>
                  </a:lnTo>
                  <a:lnTo>
                    <a:pt x="1048171" y="1084450"/>
                  </a:lnTo>
                  <a:lnTo>
                    <a:pt x="0" y="1084450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048171" cy="1113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26519"/>
            <a:ext cx="4584772" cy="3963076"/>
            <a:chOff x="0" y="0"/>
            <a:chExt cx="1207512" cy="10437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07512" cy="1043773"/>
            </a:xfrm>
            <a:custGeom>
              <a:avLst/>
              <a:gdLst/>
              <a:ahLst/>
              <a:cxnLst/>
              <a:rect r="r" b="b" t="t" l="l"/>
              <a:pathLst>
                <a:path h="1043773" w="1207512">
                  <a:moveTo>
                    <a:pt x="0" y="0"/>
                  </a:moveTo>
                  <a:lnTo>
                    <a:pt x="1207512" y="0"/>
                  </a:lnTo>
                  <a:lnTo>
                    <a:pt x="1207512" y="1043773"/>
                  </a:lnTo>
                  <a:lnTo>
                    <a:pt x="0" y="1043773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07512" cy="1072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3401" y="9553758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1180424"/>
            <a:ext cx="8115300" cy="3709171"/>
            <a:chOff x="0" y="0"/>
            <a:chExt cx="1348443" cy="6163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8443" cy="616317"/>
            </a:xfrm>
            <a:custGeom>
              <a:avLst/>
              <a:gdLst/>
              <a:ahLst/>
              <a:cxnLst/>
              <a:rect r="r" b="b" t="t" l="l"/>
              <a:pathLst>
                <a:path h="616317" w="1348443">
                  <a:moveTo>
                    <a:pt x="1348443" y="48654"/>
                  </a:moveTo>
                  <a:lnTo>
                    <a:pt x="1348443" y="567664"/>
                  </a:lnTo>
                  <a:cubicBezTo>
                    <a:pt x="1348443" y="594534"/>
                    <a:pt x="1326660" y="616317"/>
                    <a:pt x="1299790" y="616317"/>
                  </a:cubicBezTo>
                  <a:lnTo>
                    <a:pt x="48654" y="616317"/>
                  </a:lnTo>
                  <a:cubicBezTo>
                    <a:pt x="21783" y="616317"/>
                    <a:pt x="0" y="594534"/>
                    <a:pt x="0" y="567664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lnTo>
                    <a:pt x="1299790" y="0"/>
                  </a:lnTo>
                  <a:cubicBezTo>
                    <a:pt x="1326660" y="0"/>
                    <a:pt x="1348443" y="21783"/>
                    <a:pt x="1348443" y="4865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348443" cy="61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0" y="1711034"/>
            <a:ext cx="81153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2" indent="-313051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C’est l</a:t>
            </a: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 cœ</a:t>
            </a: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ur du système, qui connecte lampadaires, capteurs </a:t>
            </a: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et mode manager.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707296" y="5549129"/>
            <a:ext cx="8115300" cy="3709171"/>
            <a:chOff x="0" y="0"/>
            <a:chExt cx="1348443" cy="6163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8443" cy="616317"/>
            </a:xfrm>
            <a:custGeom>
              <a:avLst/>
              <a:gdLst/>
              <a:ahLst/>
              <a:cxnLst/>
              <a:rect r="r" b="b" t="t" l="l"/>
              <a:pathLst>
                <a:path h="616317" w="1348443">
                  <a:moveTo>
                    <a:pt x="1348443" y="48654"/>
                  </a:moveTo>
                  <a:lnTo>
                    <a:pt x="1348443" y="567664"/>
                  </a:lnTo>
                  <a:cubicBezTo>
                    <a:pt x="1348443" y="594534"/>
                    <a:pt x="1326660" y="616317"/>
                    <a:pt x="1299790" y="616317"/>
                  </a:cubicBezTo>
                  <a:lnTo>
                    <a:pt x="48654" y="616317"/>
                  </a:lnTo>
                  <a:cubicBezTo>
                    <a:pt x="21783" y="616317"/>
                    <a:pt x="0" y="594534"/>
                    <a:pt x="0" y="567664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lnTo>
                    <a:pt x="1299790" y="0"/>
                  </a:lnTo>
                  <a:cubicBezTo>
                    <a:pt x="1326660" y="0"/>
                    <a:pt x="1348443" y="21783"/>
                    <a:pt x="1348443" y="4865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48443" cy="61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07296" y="5743575"/>
            <a:ext cx="811530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2" indent="-313051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setup() : Initialise le </a:t>
            </a: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Serial, le </a:t>
            </a: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réseau de lampadaires et tous les composants.</a:t>
            </a:r>
          </a:p>
          <a:p>
            <a:pPr algn="l" marL="626102" indent="-313051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loop() : Boucle infinie qui </a:t>
            </a: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met à jour en temps réel tous les capteurs, lampes et boutons.</a:t>
            </a:r>
          </a:p>
          <a:p>
            <a:pPr algn="l" marL="626102" indent="-313051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Pas de delay global : Maintient la réactivité du système.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00206" y="926519"/>
            <a:ext cx="6328265" cy="3963076"/>
          </a:xfrm>
          <a:custGeom>
            <a:avLst/>
            <a:gdLst/>
            <a:ahLst/>
            <a:cxnLst/>
            <a:rect r="r" b="b" t="t" l="l"/>
            <a:pathLst>
              <a:path h="3963076" w="6328265">
                <a:moveTo>
                  <a:pt x="0" y="0"/>
                </a:moveTo>
                <a:lnTo>
                  <a:pt x="6328265" y="0"/>
                </a:lnTo>
                <a:lnTo>
                  <a:pt x="6328265" y="3963076"/>
                </a:lnTo>
                <a:lnTo>
                  <a:pt x="0" y="3963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861666" y="5344953"/>
            <a:ext cx="5408089" cy="4117523"/>
          </a:xfrm>
          <a:custGeom>
            <a:avLst/>
            <a:gdLst/>
            <a:ahLst/>
            <a:cxnLst/>
            <a:rect r="r" b="b" t="t" l="l"/>
            <a:pathLst>
              <a:path h="4117523" w="5408089">
                <a:moveTo>
                  <a:pt x="0" y="0"/>
                </a:moveTo>
                <a:lnTo>
                  <a:pt x="5408089" y="0"/>
                </a:lnTo>
                <a:lnTo>
                  <a:pt x="5408089" y="4117523"/>
                </a:lnTo>
                <a:lnTo>
                  <a:pt x="0" y="4117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15 of 19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7823993"/>
            <a:chOff x="0" y="0"/>
            <a:chExt cx="2696887" cy="13000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96887" cy="1300038"/>
            </a:xfrm>
            <a:custGeom>
              <a:avLst/>
              <a:gdLst/>
              <a:ahLst/>
              <a:cxnLst/>
              <a:rect r="r" b="b" t="t" l="l"/>
              <a:pathLst>
                <a:path h="1300038" w="2696887">
                  <a:moveTo>
                    <a:pt x="2696887" y="24327"/>
                  </a:moveTo>
                  <a:lnTo>
                    <a:pt x="2696887" y="1275711"/>
                  </a:lnTo>
                  <a:cubicBezTo>
                    <a:pt x="2696887" y="1289146"/>
                    <a:pt x="2685995" y="1300038"/>
                    <a:pt x="2672560" y="1300038"/>
                  </a:cubicBezTo>
                  <a:lnTo>
                    <a:pt x="24327" y="1300038"/>
                  </a:lnTo>
                  <a:cubicBezTo>
                    <a:pt x="10891" y="1300038"/>
                    <a:pt x="0" y="1289146"/>
                    <a:pt x="0" y="1275711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lnTo>
                    <a:pt x="2672560" y="0"/>
                  </a:lnTo>
                  <a:cubicBezTo>
                    <a:pt x="2685995" y="0"/>
                    <a:pt x="2696887" y="10891"/>
                    <a:pt x="2696887" y="24327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696887" cy="1300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066021"/>
            <a:ext cx="2556436" cy="5669082"/>
            <a:chOff x="0" y="0"/>
            <a:chExt cx="673300" cy="1493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3300" cy="1493092"/>
            </a:xfrm>
            <a:custGeom>
              <a:avLst/>
              <a:gdLst/>
              <a:ahLst/>
              <a:cxnLst/>
              <a:rect r="r" b="b" t="t" l="l"/>
              <a:pathLst>
                <a:path h="1493092" w="673300">
                  <a:moveTo>
                    <a:pt x="0" y="0"/>
                  </a:moveTo>
                  <a:lnTo>
                    <a:pt x="673300" y="0"/>
                  </a:lnTo>
                  <a:lnTo>
                    <a:pt x="673300" y="1493092"/>
                  </a:lnTo>
                  <a:lnTo>
                    <a:pt x="0" y="1493092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673300" cy="1521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424322" y="3239185"/>
            <a:ext cx="11850772" cy="412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70"/>
              </a:lnSpc>
            </a:pPr>
            <a:r>
              <a:rPr lang="en-US" sz="16706" i="true" spc="-668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 RÉSULTATS ET DISCUSSION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9258300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5" y="0"/>
                </a:lnTo>
                <a:lnTo>
                  <a:pt x="392115" y="392115"/>
                </a:lnTo>
                <a:lnTo>
                  <a:pt x="0" y="39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01410" y="4736504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4675165" y="2066021"/>
            <a:ext cx="2556436" cy="5669082"/>
            <a:chOff x="0" y="0"/>
            <a:chExt cx="673300" cy="14930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3300" cy="1493092"/>
            </a:xfrm>
            <a:custGeom>
              <a:avLst/>
              <a:gdLst/>
              <a:ahLst/>
              <a:cxnLst/>
              <a:rect r="r" b="b" t="t" l="l"/>
              <a:pathLst>
                <a:path h="1493092" w="673300">
                  <a:moveTo>
                    <a:pt x="0" y="0"/>
                  </a:moveTo>
                  <a:lnTo>
                    <a:pt x="673300" y="0"/>
                  </a:lnTo>
                  <a:lnTo>
                    <a:pt x="673300" y="1493092"/>
                  </a:lnTo>
                  <a:lnTo>
                    <a:pt x="0" y="1493092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73300" cy="1521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15226574" y="4736504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726809" y="0"/>
                </a:moveTo>
                <a:lnTo>
                  <a:pt x="0" y="0"/>
                </a:lnTo>
                <a:lnTo>
                  <a:pt x="0" y="726809"/>
                </a:lnTo>
                <a:lnTo>
                  <a:pt x="726809" y="726809"/>
                </a:lnTo>
                <a:lnTo>
                  <a:pt x="72680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85548" y="9349582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16 of 19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6466331" y="5143500"/>
            <a:ext cx="1821669" cy="4114800"/>
            <a:chOff x="0" y="0"/>
            <a:chExt cx="479781" cy="10837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781" cy="1083733"/>
            </a:xfrm>
            <a:custGeom>
              <a:avLst/>
              <a:gdLst/>
              <a:ahLst/>
              <a:cxnLst/>
              <a:rect r="r" b="b" t="t" l="l"/>
              <a:pathLst>
                <a:path h="1083733" w="479781">
                  <a:moveTo>
                    <a:pt x="0" y="0"/>
                  </a:moveTo>
                  <a:lnTo>
                    <a:pt x="479781" y="0"/>
                  </a:lnTo>
                  <a:lnTo>
                    <a:pt x="479781" y="1083733"/>
                  </a:lnTo>
                  <a:lnTo>
                    <a:pt x="0" y="1083733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79781" cy="111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76924" y="1304925"/>
            <a:ext cx="15106106" cy="149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72"/>
              </a:lnSpc>
            </a:pPr>
            <a:r>
              <a:rPr lang="en-US" sz="11655" i="true" spc="-466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CONCLUSION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433905" y="8196081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8" y="0"/>
                </a:lnTo>
                <a:lnTo>
                  <a:pt x="726808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433905" y="1888766"/>
            <a:ext cx="7555450" cy="7034124"/>
            <a:chOff x="0" y="0"/>
            <a:chExt cx="6350000" cy="5911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02" y="0"/>
              <a:ext cx="6348428" cy="5911850"/>
            </a:xfrm>
            <a:custGeom>
              <a:avLst/>
              <a:gdLst/>
              <a:ahLst/>
              <a:cxnLst/>
              <a:rect r="r" b="b" t="t" l="l"/>
              <a:pathLst>
                <a:path h="5911850" w="6348428">
                  <a:moveTo>
                    <a:pt x="1146508" y="402590"/>
                  </a:moveTo>
                  <a:lnTo>
                    <a:pt x="108918" y="2192020"/>
                  </a:lnTo>
                  <a:cubicBezTo>
                    <a:pt x="-68882" y="2498090"/>
                    <a:pt x="-25702" y="2884170"/>
                    <a:pt x="214328" y="3144520"/>
                  </a:cubicBezTo>
                  <a:lnTo>
                    <a:pt x="2525728" y="5651500"/>
                  </a:lnTo>
                  <a:cubicBezTo>
                    <a:pt x="2678128" y="5817870"/>
                    <a:pt x="2894028" y="5911850"/>
                    <a:pt x="3118818" y="5911850"/>
                  </a:cubicBezTo>
                  <a:lnTo>
                    <a:pt x="5540708" y="5911850"/>
                  </a:lnTo>
                  <a:cubicBezTo>
                    <a:pt x="5986478" y="5911850"/>
                    <a:pt x="6348428" y="5549900"/>
                    <a:pt x="6348428" y="5104130"/>
                  </a:cubicBezTo>
                  <a:lnTo>
                    <a:pt x="6348428" y="1891030"/>
                  </a:lnTo>
                  <a:cubicBezTo>
                    <a:pt x="6348428" y="1724660"/>
                    <a:pt x="6297628" y="1562100"/>
                    <a:pt x="6201108" y="1426210"/>
                  </a:cubicBezTo>
                  <a:lnTo>
                    <a:pt x="5439108" y="342900"/>
                  </a:lnTo>
                  <a:cubicBezTo>
                    <a:pt x="5287978" y="128270"/>
                    <a:pt x="5041598" y="0"/>
                    <a:pt x="4778708" y="0"/>
                  </a:cubicBezTo>
                  <a:lnTo>
                    <a:pt x="1845008" y="0"/>
                  </a:lnTo>
                  <a:cubicBezTo>
                    <a:pt x="1556718" y="0"/>
                    <a:pt x="1290018" y="153670"/>
                    <a:pt x="1146508" y="402590"/>
                  </a:cubicBezTo>
                  <a:close/>
                </a:path>
              </a:pathLst>
            </a:custGeom>
            <a:blipFill>
              <a:blip r:embed="rId5"/>
              <a:stretch>
                <a:fillRect l="-20471" t="0" r="-74743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886973" y="937418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4" y="0"/>
                </a:lnTo>
                <a:lnTo>
                  <a:pt x="392114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65296" y="3860920"/>
            <a:ext cx="8675150" cy="4500190"/>
            <a:chOff x="0" y="0"/>
            <a:chExt cx="1441468" cy="7477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1468" cy="747753"/>
            </a:xfrm>
            <a:custGeom>
              <a:avLst/>
              <a:gdLst/>
              <a:ahLst/>
              <a:cxnLst/>
              <a:rect r="r" b="b" t="t" l="l"/>
              <a:pathLst>
                <a:path h="747753" w="1441468">
                  <a:moveTo>
                    <a:pt x="1441468" y="45514"/>
                  </a:moveTo>
                  <a:lnTo>
                    <a:pt x="1441468" y="702240"/>
                  </a:lnTo>
                  <a:cubicBezTo>
                    <a:pt x="1441468" y="714311"/>
                    <a:pt x="1436673" y="725887"/>
                    <a:pt x="1428138" y="734423"/>
                  </a:cubicBezTo>
                  <a:cubicBezTo>
                    <a:pt x="1419602" y="742958"/>
                    <a:pt x="1408026" y="747753"/>
                    <a:pt x="1395955" y="747753"/>
                  </a:cubicBezTo>
                  <a:lnTo>
                    <a:pt x="45514" y="747753"/>
                  </a:lnTo>
                  <a:cubicBezTo>
                    <a:pt x="33443" y="747753"/>
                    <a:pt x="21866" y="742958"/>
                    <a:pt x="13331" y="734423"/>
                  </a:cubicBezTo>
                  <a:cubicBezTo>
                    <a:pt x="4795" y="725887"/>
                    <a:pt x="0" y="714311"/>
                    <a:pt x="0" y="702240"/>
                  </a:cubicBezTo>
                  <a:lnTo>
                    <a:pt x="0" y="45514"/>
                  </a:lnTo>
                  <a:cubicBezTo>
                    <a:pt x="0" y="33443"/>
                    <a:pt x="4795" y="21866"/>
                    <a:pt x="13331" y="13331"/>
                  </a:cubicBezTo>
                  <a:cubicBezTo>
                    <a:pt x="21866" y="4795"/>
                    <a:pt x="33443" y="0"/>
                    <a:pt x="45514" y="0"/>
                  </a:cubicBezTo>
                  <a:lnTo>
                    <a:pt x="1395955" y="0"/>
                  </a:lnTo>
                  <a:cubicBezTo>
                    <a:pt x="1421091" y="0"/>
                    <a:pt x="1441468" y="20377"/>
                    <a:pt x="1441468" y="45514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41468" cy="747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75150" y="4581847"/>
            <a:ext cx="7655441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614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Ce projet propose un éclairage public intelligent utilisant la détection de présence et la gestion automatique jour/nuit pour allumer uniquement lorsque c’est nécessaire. Grâce à une architecture simple et une programmation en C++, le système réduit la consommation d’énergie tout en améliorant la sécurité et la performance de l’éclairage urbain.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66331" y="1028700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17 of 19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6208500" y="8027254"/>
            <a:ext cx="1238250" cy="3490793"/>
            <a:chOff x="0" y="0"/>
            <a:chExt cx="326123" cy="919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6123" cy="919386"/>
            </a:xfrm>
            <a:custGeom>
              <a:avLst/>
              <a:gdLst/>
              <a:ahLst/>
              <a:cxnLst/>
              <a:rect r="r" b="b" t="t" l="l"/>
              <a:pathLst>
                <a:path h="919386" w="326123">
                  <a:moveTo>
                    <a:pt x="0" y="0"/>
                  </a:moveTo>
                  <a:lnTo>
                    <a:pt x="326123" y="0"/>
                  </a:lnTo>
                  <a:lnTo>
                    <a:pt x="326123" y="919386"/>
                  </a:lnTo>
                  <a:lnTo>
                    <a:pt x="0" y="919386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26123" cy="947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886973" y="8852693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4" y="0"/>
                </a:lnTo>
                <a:lnTo>
                  <a:pt x="392114" y="392114"/>
                </a:lnTo>
                <a:lnTo>
                  <a:pt x="0" y="3921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5400000">
            <a:off x="16028254" y="-1231046"/>
            <a:ext cx="1028700" cy="3490793"/>
            <a:chOff x="0" y="0"/>
            <a:chExt cx="270933" cy="9193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919386"/>
            </a:xfrm>
            <a:custGeom>
              <a:avLst/>
              <a:gdLst/>
              <a:ahLst/>
              <a:cxnLst/>
              <a:rect r="r" b="b" t="t" l="l"/>
              <a:pathLst>
                <a:path h="91938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919386"/>
                  </a:lnTo>
                  <a:lnTo>
                    <a:pt x="0" y="919386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70933" cy="947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09300"/>
            <a:ext cx="6846949" cy="1045989"/>
            <a:chOff x="0" y="0"/>
            <a:chExt cx="1803312" cy="2754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03312" cy="275487"/>
            </a:xfrm>
            <a:custGeom>
              <a:avLst/>
              <a:gdLst/>
              <a:ahLst/>
              <a:cxnLst/>
              <a:rect r="r" b="b" t="t" l="l"/>
              <a:pathLst>
                <a:path h="275487" w="1803312">
                  <a:moveTo>
                    <a:pt x="0" y="0"/>
                  </a:moveTo>
                  <a:lnTo>
                    <a:pt x="1803312" y="0"/>
                  </a:lnTo>
                  <a:lnTo>
                    <a:pt x="1803312" y="275487"/>
                  </a:lnTo>
                  <a:lnTo>
                    <a:pt x="0" y="275487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803312" cy="304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85850" y="857250"/>
            <a:ext cx="7185031" cy="108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3"/>
              </a:lnSpc>
            </a:pPr>
            <a:r>
              <a:rPr lang="en-US" sz="6035" i="true" spc="96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 BIBLIOGRAPHIE: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66331" y="8943975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5850" y="2061109"/>
            <a:ext cx="11951410" cy="529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08" indent="-410204" lvl="1">
              <a:lnSpc>
                <a:spcPts val="7105"/>
              </a:lnSpc>
              <a:buFont typeface="Arial"/>
              <a:buChar char="•"/>
            </a:pPr>
            <a:r>
              <a:rPr lang="en-US" sz="3799" i="true" spc="-75" u="sng">
                <a:solidFill>
                  <a:srgbClr val="FFFFFF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  <a:hlinkClick r:id="rId5" tooltip="https://www.lampesdirect.fr/eclairage-professionnel?gad_source=1&amp;gad_campaignid=10398169879&amp;gbraid=0AAAAADsGI4lY77cn5ilHfUo51stDskOfr&amp;gclid=CjwKCAiAlrXJBhBAEiwA-5pgwuhm2Gq9FuIgTP0ymPhm2pRWN5-6FnJspTW6ywSjUwhBJCihDuEeFRoCrJkQAvD_BwE&amp;switch=7580883472818097118"/>
              </a:rPr>
              <a:t>https://docs.arduino.cc</a:t>
            </a:r>
          </a:p>
          <a:p>
            <a:pPr algn="l" marL="820408" indent="-410204" lvl="1">
              <a:lnSpc>
                <a:spcPts val="7105"/>
              </a:lnSpc>
              <a:buFont typeface="Arial"/>
              <a:buChar char="•"/>
            </a:pPr>
            <a:r>
              <a:rPr lang="en-US" sz="3799" i="true" spc="-75" u="sng">
                <a:solidFill>
                  <a:srgbClr val="FFFFFF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  <a:hlinkClick r:id="rId6" tooltip="https://www.lampesdirect.fr/eclairage-professionnel?gad_source=1&amp;gad_campaignid=10398169879&amp;gbraid=0AAAAADsGI4lY77cn5ilHfUo51stDskOfr&amp;gclid=CjwKCAiAlrXJBhBAEiwA-5pgwuhm2Gq9FuIgTP0ymPhm2pRWN5-6FnJspTW6ywSjUwhBJCihDuEeFRoCrJkQAvD_BwE&amp;switch=7580883472818097118"/>
              </a:rPr>
              <a:t>https://store.arduino.cc/products/arduino-uno-rev3</a:t>
            </a:r>
          </a:p>
          <a:p>
            <a:pPr algn="l" marL="820408" indent="-410204" lvl="1">
              <a:lnSpc>
                <a:spcPts val="7105"/>
              </a:lnSpc>
              <a:buFont typeface="Arial"/>
              <a:buChar char="•"/>
            </a:pPr>
            <a:r>
              <a:rPr lang="en-US" sz="3799" i="true" spc="-75" u="sng">
                <a:solidFill>
                  <a:srgbClr val="FFFFFF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https://www.lampesdirect.fr/eclairage-professionnel</a:t>
            </a:r>
          </a:p>
          <a:p>
            <a:pPr algn="l" marL="820408" indent="-410204" lvl="1">
              <a:lnSpc>
                <a:spcPts val="7105"/>
              </a:lnSpc>
              <a:buFont typeface="Arial"/>
              <a:buChar char="•"/>
            </a:pPr>
            <a:r>
              <a:rPr lang="en-US" sz="3799" i="true" spc="-75" u="sng">
                <a:solidFill>
                  <a:srgbClr val="FFFFFF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https://www.kanlux.com/fr/articles</a:t>
            </a:r>
          </a:p>
          <a:p>
            <a:pPr algn="l" marL="820408" indent="-410204" lvl="1">
              <a:lnSpc>
                <a:spcPts val="7105"/>
              </a:lnSpc>
              <a:buFont typeface="Arial"/>
              <a:buChar char="•"/>
            </a:pPr>
            <a:r>
              <a:rPr lang="en-US" sz="3799" i="true" spc="-75" u="sng">
                <a:solidFill>
                  <a:srgbClr val="FFFFFF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https://smartgrid.ieee.org</a:t>
            </a:r>
          </a:p>
          <a:p>
            <a:pPr algn="l" marL="820408" indent="-410204" lvl="1">
              <a:lnSpc>
                <a:spcPts val="7105"/>
              </a:lnSpc>
              <a:buFont typeface="Arial"/>
              <a:buChar char="•"/>
            </a:pPr>
            <a:r>
              <a:rPr lang="en-US" sz="3799" i="true" spc="-75" u="sng">
                <a:solidFill>
                  <a:srgbClr val="FFFFFF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Cours C++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18 of 19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7823993"/>
            <a:chOff x="0" y="0"/>
            <a:chExt cx="2696887" cy="13000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96887" cy="1300038"/>
            </a:xfrm>
            <a:custGeom>
              <a:avLst/>
              <a:gdLst/>
              <a:ahLst/>
              <a:cxnLst/>
              <a:rect r="r" b="b" t="t" l="l"/>
              <a:pathLst>
                <a:path h="1300038" w="2696887">
                  <a:moveTo>
                    <a:pt x="2696887" y="24327"/>
                  </a:moveTo>
                  <a:lnTo>
                    <a:pt x="2696887" y="1275711"/>
                  </a:lnTo>
                  <a:cubicBezTo>
                    <a:pt x="2696887" y="1289146"/>
                    <a:pt x="2685995" y="1300038"/>
                    <a:pt x="2672560" y="1300038"/>
                  </a:cubicBezTo>
                  <a:lnTo>
                    <a:pt x="24327" y="1300038"/>
                  </a:lnTo>
                  <a:cubicBezTo>
                    <a:pt x="10891" y="1300038"/>
                    <a:pt x="0" y="1289146"/>
                    <a:pt x="0" y="1275711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lnTo>
                    <a:pt x="2672560" y="0"/>
                  </a:lnTo>
                  <a:cubicBezTo>
                    <a:pt x="2685995" y="0"/>
                    <a:pt x="2696887" y="10891"/>
                    <a:pt x="2696887" y="24327"/>
                  </a:cubicBezTo>
                  <a:close/>
                </a:path>
              </a:pathLst>
            </a:custGeom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696887" cy="1300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066021"/>
            <a:ext cx="2556436" cy="5669082"/>
            <a:chOff x="0" y="0"/>
            <a:chExt cx="673300" cy="1493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3300" cy="1493092"/>
            </a:xfrm>
            <a:custGeom>
              <a:avLst/>
              <a:gdLst/>
              <a:ahLst/>
              <a:cxnLst/>
              <a:rect r="r" b="b" t="t" l="l"/>
              <a:pathLst>
                <a:path h="1493092" w="673300">
                  <a:moveTo>
                    <a:pt x="0" y="0"/>
                  </a:moveTo>
                  <a:lnTo>
                    <a:pt x="673300" y="0"/>
                  </a:lnTo>
                  <a:lnTo>
                    <a:pt x="673300" y="1493092"/>
                  </a:lnTo>
                  <a:lnTo>
                    <a:pt x="0" y="1493092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673300" cy="1521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424322" y="3239185"/>
            <a:ext cx="11850772" cy="412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70"/>
              </a:lnSpc>
            </a:pPr>
            <a:r>
              <a:rPr lang="en-US" sz="16706" i="true" spc="-668">
                <a:solidFill>
                  <a:srgbClr val="8AB2A6"/>
                </a:solidFill>
                <a:latin typeface="Anton Italics"/>
                <a:ea typeface="Anton Italics"/>
                <a:cs typeface="Anton Italics"/>
                <a:sym typeface="Anton Italics"/>
              </a:rPr>
              <a:t>MERCI DE VOTRE ATTENTION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9258300"/>
            <a:ext cx="392115" cy="392115"/>
          </a:xfrm>
          <a:custGeom>
            <a:avLst/>
            <a:gdLst/>
            <a:ahLst/>
            <a:cxnLst/>
            <a:rect r="r" b="b" t="t" l="l"/>
            <a:pathLst>
              <a:path h="392115" w="392115">
                <a:moveTo>
                  <a:pt x="0" y="0"/>
                </a:moveTo>
                <a:lnTo>
                  <a:pt x="392115" y="0"/>
                </a:lnTo>
                <a:lnTo>
                  <a:pt x="392115" y="392115"/>
                </a:lnTo>
                <a:lnTo>
                  <a:pt x="0" y="39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01410" y="4736504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0" y="0"/>
                </a:moveTo>
                <a:lnTo>
                  <a:pt x="726809" y="0"/>
                </a:lnTo>
                <a:lnTo>
                  <a:pt x="726809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4675165" y="2066021"/>
            <a:ext cx="2556436" cy="5669082"/>
            <a:chOff x="0" y="0"/>
            <a:chExt cx="673300" cy="14930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3300" cy="1493092"/>
            </a:xfrm>
            <a:custGeom>
              <a:avLst/>
              <a:gdLst/>
              <a:ahLst/>
              <a:cxnLst/>
              <a:rect r="r" b="b" t="t" l="l"/>
              <a:pathLst>
                <a:path h="1493092" w="673300">
                  <a:moveTo>
                    <a:pt x="0" y="0"/>
                  </a:moveTo>
                  <a:lnTo>
                    <a:pt x="673300" y="0"/>
                  </a:lnTo>
                  <a:lnTo>
                    <a:pt x="673300" y="1493092"/>
                  </a:lnTo>
                  <a:lnTo>
                    <a:pt x="0" y="1493092"/>
                  </a:lnTo>
                  <a:close/>
                </a:path>
              </a:pathLst>
            </a:custGeom>
            <a:gradFill rotWithShape="true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73300" cy="1521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15226574" y="4736504"/>
            <a:ext cx="726809" cy="726809"/>
          </a:xfrm>
          <a:custGeom>
            <a:avLst/>
            <a:gdLst/>
            <a:ahLst/>
            <a:cxnLst/>
            <a:rect r="r" b="b" t="t" l="l"/>
            <a:pathLst>
              <a:path h="726809" w="726809">
                <a:moveTo>
                  <a:pt x="726809" y="0"/>
                </a:moveTo>
                <a:lnTo>
                  <a:pt x="0" y="0"/>
                </a:lnTo>
                <a:lnTo>
                  <a:pt x="0" y="726809"/>
                </a:lnTo>
                <a:lnTo>
                  <a:pt x="726809" y="726809"/>
                </a:lnTo>
                <a:lnTo>
                  <a:pt x="72680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85548" y="9349582"/>
            <a:ext cx="111093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spc="-2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C++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9421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19 of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DAG5hSZ93fM</dc:identifier>
  <dcterms:modified xsi:type="dcterms:W3CDTF">2011-08-01T06:04:30Z</dcterms:modified>
  <cp:revision>1</cp:revision>
  <dc:title>Projet_C++</dc:title>
</cp:coreProperties>
</file>